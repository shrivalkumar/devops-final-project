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f6ac268827d4d06" /><Relationship Type="http://schemas.openxmlformats.org/officeDocument/2006/relationships/extended-properties" Target="/docProps/app.xml" Id="Rc905e49cf97f4a68" /><Relationship Type="http://schemas.openxmlformats.org/officeDocument/2006/relationships/officeDocument" Target="/ppt/presentation.xml" Id="R02c20fc267ea41b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f1e931c916b48a3"/>
  </p:sldMasterIdLst>
  <p:notesMasterIdLst>
    <p:notesMasterId xmlns:r="http://schemas.openxmlformats.org/officeDocument/2006/relationships" r:id="Rc3fb006b044e47c3"/>
  </p:notesMasterIdLst>
  <p:sldIdLst>
    <p:sldId xmlns:r="http://schemas.openxmlformats.org/officeDocument/2006/relationships" id="256" r:id="Rf386639fb49845b0"/>
    <p:sldId xmlns:r="http://schemas.openxmlformats.org/officeDocument/2006/relationships" id="257" r:id="R64d262847d474355"/>
    <p:sldId xmlns:r="http://schemas.openxmlformats.org/officeDocument/2006/relationships" id="258" r:id="R7a83faa9fb274844"/>
    <p:sldId xmlns:r="http://schemas.openxmlformats.org/officeDocument/2006/relationships" id="259" r:id="R03ab88b7a7c54ba1"/>
    <p:sldId xmlns:r="http://schemas.openxmlformats.org/officeDocument/2006/relationships" id="260" r:id="Rebd8959dffba4087"/>
    <p:sldId xmlns:r="http://schemas.openxmlformats.org/officeDocument/2006/relationships" id="261" r:id="R5d0680eb91924034"/>
    <p:sldId xmlns:r="http://schemas.openxmlformats.org/officeDocument/2006/relationships" id="262" r:id="R1a8c9dabad2f48f1"/>
    <p:sldId xmlns:r="http://schemas.openxmlformats.org/officeDocument/2006/relationships" id="263" r:id="R7c858182ef284e90"/>
    <p:sldId xmlns:r="http://schemas.openxmlformats.org/officeDocument/2006/relationships" id="264" r:id="R35b8d5e058014a2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828de0f1c9343f4" /><Relationship Type="http://schemas.openxmlformats.org/officeDocument/2006/relationships/slideMaster" Target="/ppt/slideMasters/slideMaster1.xml" Id="Ref1e931c916b48a3" /><Relationship Type="http://schemas.openxmlformats.org/officeDocument/2006/relationships/notesMaster" Target="/ppt/notesMasters/notesMaster1.xml" Id="Rc3fb006b044e47c3" /><Relationship Type="http://schemas.openxmlformats.org/officeDocument/2006/relationships/presProps" Target="/ppt/presProps.xml" Id="R2beacb8850e244e5" /><Relationship Type="http://schemas.openxmlformats.org/officeDocument/2006/relationships/tableStyles" Target="/ppt/tableStyles.xml" Id="Ra05a52b14fc248ad" /><Relationship Type="http://schemas.openxmlformats.org/officeDocument/2006/relationships/slide" Target="/ppt/slides/slide1.xml" Id="Rf386639fb49845b0" /><Relationship Type="http://schemas.openxmlformats.org/officeDocument/2006/relationships/slide" Target="/ppt/slides/slide2.xml" Id="R64d262847d474355" /><Relationship Type="http://schemas.openxmlformats.org/officeDocument/2006/relationships/slide" Target="/ppt/slides/slide3.xml" Id="R7a83faa9fb274844" /><Relationship Type="http://schemas.openxmlformats.org/officeDocument/2006/relationships/slide" Target="/ppt/slides/slide4.xml" Id="R03ab88b7a7c54ba1" /><Relationship Type="http://schemas.openxmlformats.org/officeDocument/2006/relationships/slide" Target="/ppt/slides/slide5.xml" Id="Rebd8959dffba4087" /><Relationship Type="http://schemas.openxmlformats.org/officeDocument/2006/relationships/slide" Target="/ppt/slides/slide6.xml" Id="R5d0680eb91924034" /><Relationship Type="http://schemas.openxmlformats.org/officeDocument/2006/relationships/slide" Target="/ppt/slides/slide7.xml" Id="R1a8c9dabad2f48f1" /><Relationship Type="http://schemas.openxmlformats.org/officeDocument/2006/relationships/slide" Target="/ppt/slides/slide8.xml" Id="R7c858182ef284e90" /><Relationship Type="http://schemas.openxmlformats.org/officeDocument/2006/relationships/slide" Target="/ppt/slides/slide9.xml" Id="R35b8d5e058014a2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8507b51f9014e8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1655bd4f9144dd0" /><Relationship Type="http://schemas.openxmlformats.org/officeDocument/2006/relationships/notesMaster" Target="/ppt/notesMasters/notesMaster1.xml" Id="R8f40384865b04d9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2d21bbbc0c64c74" /><Relationship Type="http://schemas.openxmlformats.org/officeDocument/2006/relationships/notesMaster" Target="/ppt/notesMasters/notesMaster1.xml" Id="Rd62fa12fc3084bf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5c60c32f5f34c8d" /><Relationship Type="http://schemas.openxmlformats.org/officeDocument/2006/relationships/notesMaster" Target="/ppt/notesMasters/notesMaster1.xml" Id="R5a55a3bee7eb4ab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e77ec3bfb4a4be7" /><Relationship Type="http://schemas.openxmlformats.org/officeDocument/2006/relationships/notesMaster" Target="/ppt/notesMasters/notesMaster1.xml" Id="R98b1e25ba63f464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157d350c1ad4383" /><Relationship Type="http://schemas.openxmlformats.org/officeDocument/2006/relationships/notesMaster" Target="/ppt/notesMasters/notesMaster1.xml" Id="Rb3f67d3de1d949d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a6dc609005a4094" /><Relationship Type="http://schemas.openxmlformats.org/officeDocument/2006/relationships/notesMaster" Target="/ppt/notesMasters/notesMaster1.xml" Id="Rcc54bf1c37194f9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cccdabd7d404429" /><Relationship Type="http://schemas.openxmlformats.org/officeDocument/2006/relationships/notesMaster" Target="/ppt/notesMasters/notesMaster1.xml" Id="R8c107c5e811644b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26b5663a0d04a09" /><Relationship Type="http://schemas.openxmlformats.org/officeDocument/2006/relationships/notesMaster" Target="/ppt/notesMasters/notesMaster1.xml" Id="Rd44c49c2645d453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9fb8d3939a146c3" /><Relationship Type="http://schemas.openxmlformats.org/officeDocument/2006/relationships/notesMaster" Target="/ppt/notesMasters/notesMaster1.xml" Id="R6065c369b7f5472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product: DeployFlow gives a team one place to plan, promote, and observe service releases.</a:t>
            </a:r>
          </a:p>
          <a:p xmlns:a="http://schemas.openxmlformats.org/drawingml/2006/main">
            <a:r>
              <a:t>Explain that every screenshot in this deck was captured from the working local system.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Demo creating a deployment, then update its status.</a:t>
            </a:r>
          </a:p>
          <a:p xmlns:a="http://schemas.openxmlformats.org/drawingml/2006/main">
            <a:r>
              <a:t>The domain and interface were redesigned from the starter material to avoid a copy-only submission.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left to right: interface, API, database, container build, CI, cluster release, monitoring.</a:t>
            </a:r>
          </a:p>
          <a:p xmlns:a="http://schemas.openxmlformats.org/drawingml/2006/main">
            <a:r>
              <a:t>All runtime layers are represented by checked-in configuration.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Run pytest -v during the live demo if time allows.</a:t>
            </a:r>
          </a:p>
          <a:p xmlns:a="http://schemas.openxmlformats.org/drawingml/2006/main">
            <a:r>
              <a:t>Point out the /health, /ready, and /metrics endpoints that support operations.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containers run as non-root users and expose explicit health checks.</a:t>
            </a:r>
          </a:p>
          <a:p xmlns:a="http://schemas.openxmlformats.org/drawingml/2006/main">
            <a:r>
              <a:t>The Trivy action is pinned to an immutable action commit and fails on HIGH or CRITICAL findings.</a:t>
            </a:r>
          </a:p>
          <a:p xmlns:a="http://schemas.openxmlformats.org/drawingml/2006/main">
            <a:r>
              <a:t>GitHub-hosted run proof requires pushing this local repository to the student's own destination repository.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Terraform init and validate succeeded locally.</a:t>
            </a:r>
          </a:p>
          <a:p xmlns:a="http://schemas.openxmlformats.org/drawingml/2006/main">
            <a:r>
              <a:t>The current local AWS token returns STS InvalidClientTokenId, so plan/apply/destroy proof must be captured after valid credentials are supplied.</a:t>
            </a:r>
          </a:p>
          <a:p xmlns:a="http://schemas.openxmlformats.org/drawingml/2006/main">
            <a:r>
              <a:t>Sources: https://docs.aws.amazon.com/eks/latest/userguide/kubernetes-versions.html and https://registry.terraform.io/modules/terraform-aws-modules/eks/aws/latest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local proof used a kind cluster and the same Helm chart committed in the repository.</a:t>
            </a:r>
          </a:p>
          <a:p xmlns:a="http://schemas.openxmlformats.org/drawingml/2006/main">
            <a:r>
              <a:t>Helm lint and template validation also pass.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These are actual screenshots from the running local monitoring stack.</a:t>
            </a:r>
          </a:p>
          <a:p xmlns:a="http://schemas.openxmlformats.org/drawingml/2006/main">
            <a:r>
              <a:t>The load generator issues repeat API requests so the graph has a clear, verifiable signal.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with the live demo path.</a:t>
            </a:r>
          </a:p>
          <a:p xmlns:a="http://schemas.openxmlformats.org/drawingml/2006/main">
            <a:r>
              <a:t>Ask the evaluator to distinguish implementation completeness from the two proofs that require the student's GitHub and AWS account authority.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5ff5f6073ee437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bd3ae7113a749d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ee5339ebcc14fc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ad15a4293c452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132eeb2317846e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7860e9d23ac43f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D6ECD36-2D23-4D20-8103-A61DF8F3B9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5C2E6561-BB61-42A7-AE57-DBFB5B7F4BE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9019B143-4215-442A-BC6E-00DD32A2849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4EF66F6-9946-4B53-BEBC-BABC34194E9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4408AD0-DEF5-4C20-B455-61E0759C538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95844109-2DBE-4B4A-BE04-E6B5AF2E8C7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5CB7E6A-913C-46BC-B1F5-F4BD1359E49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FDC935AF-8C72-435F-B571-D396CDB3760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7F4574B-662C-4211-836F-75FFD06EFA0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A20578B-D014-44D3-BAED-437AF194EAD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1d5e3e0cd5d45d4" /><Relationship Type="http://schemas.openxmlformats.org/officeDocument/2006/relationships/slideLayout" Target="/ppt/slideLayouts/slideLayout1.xml" Id="Re43cdbcec5d14934" /><Relationship Type="http://schemas.openxmlformats.org/officeDocument/2006/relationships/slideLayout" Target="/ppt/slideLayouts/slideLayout2.xml" Id="Rbc34821b370945e6" /><Relationship Type="http://schemas.openxmlformats.org/officeDocument/2006/relationships/slideLayout" Target="/ppt/slideLayouts/slideLayout3.xml" Id="R094dac255dda4cd6" /><Relationship Type="http://schemas.openxmlformats.org/officeDocument/2006/relationships/slideLayout" Target="/ppt/slideLayouts/slideLayout4.xml" Id="R110a6b90f87846af" /><Relationship Type="http://schemas.openxmlformats.org/officeDocument/2006/relationships/slideLayout" Target="/ppt/slideLayouts/slideLayout5.xml" Id="Rbd4497e595a64680" /><Relationship Type="http://schemas.openxmlformats.org/officeDocument/2006/relationships/slideLayout" Target="/ppt/slideLayouts/slideLayout6.xml" Id="Rec26504d8a0d4f9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43cdbcec5d14934"/>
    <p:sldLayoutId xmlns:r="http://schemas.openxmlformats.org/officeDocument/2006/relationships" id="2147483650" r:id="Rbc34821b370945e6"/>
    <p:sldLayoutId xmlns:r="http://schemas.openxmlformats.org/officeDocument/2006/relationships" id="2147483651" r:id="R094dac255dda4cd6"/>
    <p:sldLayoutId xmlns:r="http://schemas.openxmlformats.org/officeDocument/2006/relationships" id="2147483652" r:id="R110a6b90f87846af"/>
    <p:sldLayoutId xmlns:r="http://schemas.openxmlformats.org/officeDocument/2006/relationships" id="2147483653" r:id="Rbd4497e595a64680"/>
    <p:sldLayoutId xmlns:r="http://schemas.openxmlformats.org/officeDocument/2006/relationships" id="2147483654" r:id="Rec26504d8a0d4f9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4802f4f78094866" /><Relationship Type="http://schemas.openxmlformats.org/officeDocument/2006/relationships/image" Target="/ppt/media/image.jpeg" Id="R8835663b3d544df4" /><Relationship Type="http://schemas.openxmlformats.org/officeDocument/2006/relationships/notesSlide" Target="/ppt/notesSlides/notesSlide1.xml" Id="Rc697265fc41243b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7906139afa54ff5" /><Relationship Type="http://schemas.openxmlformats.org/officeDocument/2006/relationships/image" Target="/ppt/media/image2.jpeg" Id="Rc6052f62ee09461e" /><Relationship Type="http://schemas.openxmlformats.org/officeDocument/2006/relationships/notesSlide" Target="/ppt/notesSlides/notesSlide2.xml" Id="R387821779d4d432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5aa71ab18554503" /><Relationship Type="http://schemas.openxmlformats.org/officeDocument/2006/relationships/notesSlide" Target="/ppt/notesSlides/notesSlide3.xml" Id="R0c41307d67b142b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c69c87782414b3d" /><Relationship Type="http://schemas.openxmlformats.org/officeDocument/2006/relationships/image" Target="/ppt/media/image3.jpeg" Id="R69f11e0f3c904ec9" /><Relationship Type="http://schemas.openxmlformats.org/officeDocument/2006/relationships/notesSlide" Target="/ppt/notesSlides/notesSlide4.xml" Id="R958e09ca5a97455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15c2b7b28054cce" /><Relationship Type="http://schemas.openxmlformats.org/officeDocument/2006/relationships/image" Target="/ppt/media/image4.jpeg" Id="R9a9d66892eab479e" /><Relationship Type="http://schemas.openxmlformats.org/officeDocument/2006/relationships/notesSlide" Target="/ppt/notesSlides/notesSlide5.xml" Id="Reabd58d59058454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0a896f4e636441d" /><Relationship Type="http://schemas.openxmlformats.org/officeDocument/2006/relationships/notesSlide" Target="/ppt/notesSlides/notesSlide6.xml" Id="R369cc4d8df2a409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ffd9535269546aa" /><Relationship Type="http://schemas.openxmlformats.org/officeDocument/2006/relationships/image" Target="/ppt/media/image5.jpeg" Id="R008e4e5b0b554634" /><Relationship Type="http://schemas.openxmlformats.org/officeDocument/2006/relationships/notesSlide" Target="/ppt/notesSlides/notesSlide7.xml" Id="Rc5548678a7324cc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a6ff55663da4b0b" /><Relationship Type="http://schemas.openxmlformats.org/officeDocument/2006/relationships/image" Target="/ppt/media/image6.jpeg" Id="R73e007d438384979" /><Relationship Type="http://schemas.openxmlformats.org/officeDocument/2006/relationships/image" Target="/ppt/media/image7.jpeg" Id="Rcf4271bba7b647db" /><Relationship Type="http://schemas.openxmlformats.org/officeDocument/2006/relationships/notesSlide" Target="/ppt/notesSlides/notesSlide8.xml" Id="Re392c3abd6324d7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7e519e50c2b4785" /><Relationship Type="http://schemas.openxmlformats.org/officeDocument/2006/relationships/notesSlide" Target="/ppt/notesSlides/notesSlide9.xml" Id="Rba614f4898864e2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0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53320B-2930-42D4-B714-3CCA5B8CB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286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1" i="0">
                <a:solidFill>
                  <a:srgbClr val="22D3EE"/>
                </a:solidFill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22D3EE"/>
                </a:solidFill>
              </a:defRPr>
            </a:pPr>
            <a:r>
              <a:rPr sz="975" b="1" i="0">
                <a:solidFill>
                  <a:srgbClr val="22D3EE"/>
                </a:solidFill>
              </a:rPr>
              <a:t>DEVOPS CAPSTONE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C9B088-E743-4FED-A754-6C83B2F04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28750"/>
            <a:ext cx="4572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4350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4350" b="1" i="0">
                <a:solidFill>
                  <a:srgbClr val="F6F7FB"/>
                </a:solidFill>
              </a:defRPr>
            </a:pPr>
            <a:r>
              <a:rPr sz="4350" b="1" i="0">
                <a:solidFill>
                  <a:srgbClr val="F6F7FB"/>
                </a:solidFill>
              </a:rPr>
              <a:t>DeployFlow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E30221-B4F1-4652-8A34-ECC868E18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47900"/>
            <a:ext cx="4238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800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1800" b="0" i="0">
                <a:solidFill>
                  <a:srgbClr val="AAB2CF"/>
                </a:solidFill>
              </a:defRPr>
            </a:pPr>
            <a:r>
              <a:rPr sz="1800" b="0" i="0">
                <a:solidFill>
                  <a:srgbClr val="AAB2CF"/>
                </a:solidFill>
              </a:rPr>
              <a:t>Release operations—from commit to live metrics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29EB8B-3B45-4DBA-AAEA-82C80E46E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76600"/>
            <a:ext cx="10287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>
              <a:alpha val="13333"/>
            </a:srgbClr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E1D16E-857D-49EF-9770-85C17399C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43275"/>
            <a:ext cx="838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900" b="1" i="0">
                <a:solidFill>
                  <a:srgbClr val="34D399"/>
                </a:solidFill>
              </a:defRPr>
            </a:defPPr>
          </a:lstStyle>
          <a:p xmlns:a="http://schemas.openxmlformats.org/drawingml/2006/main">
            <a:pPr algn="ctr">
              <a:defRPr sz="900" b="1" i="0">
                <a:solidFill>
                  <a:srgbClr val="34D399"/>
                </a:solidFill>
              </a:defRPr>
            </a:pPr>
            <a:r>
              <a:rPr sz="900" b="1" i="0">
                <a:solidFill>
                  <a:srgbClr val="34D399"/>
                </a:solidFill>
              </a:rPr>
              <a:t>FASTAPI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8DCBA9-69D9-4AF2-ACB2-5DAAEF9DB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276600"/>
            <a:ext cx="8953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D3EE">
              <a:alpha val="13333"/>
            </a:srgbClr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E2ECDF-A601-4886-A65A-220FF5420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343275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900" b="1" i="0">
                <a:solidFill>
                  <a:srgbClr val="22D3EE"/>
                </a:solidFill>
              </a:defRPr>
            </a:defPPr>
          </a:lstStyle>
          <a:p xmlns:a="http://schemas.openxmlformats.org/drawingml/2006/main">
            <a:pPr algn="ctr">
              <a:defRPr sz="900" b="1" i="0">
                <a:solidFill>
                  <a:srgbClr val="22D3EE"/>
                </a:solidFill>
              </a:defRPr>
            </a:pPr>
            <a:r>
              <a:rPr sz="900" b="1" i="0">
                <a:solidFill>
                  <a:srgbClr val="22D3EE"/>
                </a:solidFill>
              </a:rPr>
              <a:t>REACT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CF93EC-15F7-4E45-9A48-B86A65E38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276600"/>
            <a:ext cx="12573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B5CF6">
              <a:alpha val="13333"/>
            </a:srgbClr>
          </a:solidFill>
          <a:ln xmlns:a="http://schemas.openxmlformats.org/drawingml/2006/main" w="9525">
            <a:solidFill>
              <a:srgbClr val="8B5CF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9ED4BE-0605-4E19-A4D9-EAC65A1A8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343275"/>
            <a:ext cx="106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900" b="1" i="0">
                <a:solidFill>
                  <a:srgbClr val="8B5CF6"/>
                </a:solidFill>
              </a:defRPr>
            </a:defPPr>
          </a:lstStyle>
          <a:p xmlns:a="http://schemas.openxmlformats.org/drawingml/2006/main">
            <a:pPr algn="ctr">
              <a:defRPr sz="900" b="1" i="0">
                <a:solidFill>
                  <a:srgbClr val="8B5CF6"/>
                </a:solidFill>
              </a:defRPr>
            </a:pPr>
            <a:r>
              <a:rPr sz="900" b="1" i="0">
                <a:solidFill>
                  <a:srgbClr val="8B5CF6"/>
                </a:solidFill>
              </a:rPr>
              <a:t>KUBERNETES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077641-7963-4EC9-A986-F7797833D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943350"/>
            <a:ext cx="4286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350" b="0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350" b="0" i="0">
                <a:solidFill>
                  <a:srgbClr val="F6F7FB"/>
                </a:solidFill>
              </a:defRPr>
            </a:pPr>
            <a:r>
              <a:rPr sz="1350" b="0" i="0">
                <a:solidFill>
                  <a:srgbClr val="F6F7FB"/>
                </a:solidFill>
              </a:rPr>
              <a:t>A production-minded delivery system with container security, Infrastructure as Code, Helm deployment, and observable runtime behavior.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57DD2C-610C-4206-A324-72CC796D1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514350"/>
            <a:ext cx="6000750" cy="5524500"/>
          </a:xfrm>
          <a:prstGeom xmlns:a="http://schemas.openxmlformats.org/drawingml/2006/main" prst="roundRect">
            <a:avLst>
              <a:gd name="adj" fmla="val 2759"/>
            </a:avLst>
          </a:prstGeom>
          <a:solidFill xmlns:a="http://schemas.openxmlformats.org/drawingml/2006/main">
            <a:srgbClr val="12172A"/>
          </a:solidFill>
          <a:ln xmlns:a="http://schemas.openxmlformats.org/drawingml/2006/main" w="9525">
            <a:solidFill>
              <a:srgbClr val="8B5CF6"/>
            </a:solidFill>
            <a:prstDash val="solid"/>
          </a:ln>
        </p:spPr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EF764D-25DE-4B4A-9859-75300416782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35663b3d544df4"/>
          <a:stretch xmlns:a="http://schemas.openxmlformats.org/drawingml/2006/main"/>
        </p:blipFill>
        <p:spPr>
          <a:xfrm xmlns:a="http://schemas.openxmlformats.org/drawingml/2006/main">
            <a:off x="5810250" y="1565333"/>
            <a:ext cx="5524500" cy="3422533"/>
          </a:xfrm>
          <a:prstGeom xmlns:a="http://schemas.openxmlformats.org/drawingml/2006/main" prst="roundRect">
            <a:avLst>
              <a:gd name="adj" fmla="val 2256"/>
            </a:avLst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9F955B-46D7-471F-B987-2A17FDD80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912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1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AAB2CF"/>
                </a:solidFill>
              </a:defRPr>
            </a:pPr>
            <a:r>
              <a:rPr sz="900" b="1" i="0">
                <a:solidFill>
                  <a:srgbClr val="AAB2CF"/>
                </a:solidFill>
              </a:rPr>
              <a:t>Final Project · 2026</a:t>
            </a:r>
          </a:p>
        </p:txBody>
      </p:sp>
    </p:spTree>
    <p:extLst>
      <p:ext uri="{BB962C8B-B14F-4D97-AF65-F5344CB8AC3E}">
        <p14:creationId xmlns:p14="http://schemas.microsoft.com/office/powerpoint/2010/main" val="212558522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80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A0F5995-1A32-4FC8-8E0C-711BBAE1F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04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1" i="0">
                <a:solidFill>
                  <a:srgbClr val="22D3EE"/>
                </a:solidFill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22D3EE"/>
                </a:solidFill>
              </a:defRPr>
            </a:pPr>
            <a:r>
              <a:rPr sz="900" b="1" i="0">
                <a:solidFill>
                  <a:srgbClr val="22D3EE"/>
                </a:solidFill>
              </a:rPr>
              <a:t>01 · PRODUCT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76942F-DC9B-4A0A-9454-3918F59C5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1000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550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2550" b="1" i="0">
                <a:solidFill>
                  <a:srgbClr val="F6F7FB"/>
                </a:solidFill>
              </a:defRPr>
            </a:pPr>
            <a:r>
              <a:rPr sz="2550" b="1" i="0">
                <a:solidFill>
                  <a:srgbClr val="F6F7FB"/>
                </a:solidFill>
              </a:rPr>
              <a:t>Release decisions need an operational home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8C03D-E977-41EF-907A-3A7287A6D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981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1200" b="0" i="0">
                <a:solidFill>
                  <a:srgbClr val="AAB2CF"/>
                </a:solidFill>
              </a:defRPr>
            </a:pPr>
            <a:r>
              <a:rPr sz="1200" b="0" i="0">
                <a:solidFill>
                  <a:srgbClr val="AAB2CF"/>
                </a:solidFill>
              </a:rPr>
              <a:t>DeployFlow turns scattered deployment context into a visible, auditable workflow.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FEEC70-6070-4BA1-A1D2-CE408B8DD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381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900" b="1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r">
              <a:defRPr sz="900" b="1" i="0">
                <a:solidFill>
                  <a:srgbClr val="AAB2CF"/>
                </a:solidFill>
              </a:defRPr>
            </a:pPr>
            <a:r>
              <a:rPr sz="900" b="1" i="0">
                <a:solidFill>
                  <a:srgbClr val="AAB2CF"/>
                </a:solidFill>
              </a:rPr>
              <a:t>02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FE66B4-FF99-4566-8FF8-E5740F1E924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052f62ee09461e"/>
          <a:stretch xmlns:a="http://schemas.openxmlformats.org/drawingml/2006/main"/>
        </p:blipFill>
        <p:spPr>
          <a:xfrm xmlns:a="http://schemas.openxmlformats.org/drawingml/2006/main">
            <a:off x="609600" y="1847594"/>
            <a:ext cx="6858000" cy="4248662"/>
          </a:xfrm>
          <a:prstGeom xmlns:a="http://schemas.openxmlformats.org/drawingml/2006/main" prst="roundRect">
            <a:avLst>
              <a:gd name="adj" fmla="val 2667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4134D4-B569-4F1B-9D4A-D94F6B9D8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955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22D3E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054DD5-D3CC-4013-905C-4B60FB789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047875"/>
            <a:ext cx="31718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F6F7FB"/>
                </a:solidFill>
              </a:defRPr>
            </a:pPr>
            <a:r>
              <a:rPr sz="1125" b="1" i="0">
                <a:solidFill>
                  <a:srgbClr val="F6F7FB"/>
                </a:solidFill>
              </a:rPr>
              <a:t>Plan the change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17A872-F887-4362-820E-55F0EEA9B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295525"/>
            <a:ext cx="31718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75" b="0" i="0">
                <a:solidFill>
                  <a:srgbClr val="AAB2CF"/>
                </a:solidFill>
              </a:defRPr>
            </a:pPr>
            <a:r>
              <a:rPr sz="975" b="0" i="0">
                <a:solidFill>
                  <a:srgbClr val="AAB2CF"/>
                </a:solidFill>
              </a:rPr>
              <a:t>Capture service, version, owner, risk, target environment, and change summary.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0CFA7C-7832-40EB-930B-FAF94E2CF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0480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solidFill>
              <a:srgbClr val="8B5CF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49B547-AFF9-48BB-8D62-86DA37B95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000375"/>
            <a:ext cx="31718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F6F7FB"/>
                </a:solidFill>
              </a:defRPr>
            </a:pPr>
            <a:r>
              <a:rPr sz="1125" b="1" i="0">
                <a:solidFill>
                  <a:srgbClr val="F6F7FB"/>
                </a:solidFill>
              </a:rPr>
              <a:t>Track execution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399CFB-1CBC-46CA-96F8-1FDDDB29D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248025"/>
            <a:ext cx="31718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75" b="0" i="0">
                <a:solidFill>
                  <a:srgbClr val="AAB2CF"/>
                </a:solidFill>
              </a:defRPr>
            </a:pPr>
            <a:r>
              <a:rPr sz="975" b="0" i="0">
                <a:solidFill>
                  <a:srgbClr val="AAB2CF"/>
                </a:solidFill>
              </a:rPr>
              <a:t>Move a release through planned, running, succeeded, or failed states.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8912E7-2AFF-41A3-B135-945415509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005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34D39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8780A7-03D7-4175-8E59-F6AEA11AC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952875"/>
            <a:ext cx="31718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F6F7FB"/>
                </a:solidFill>
              </a:defRPr>
            </a:pPr>
            <a:r>
              <a:rPr sz="1125" b="1" i="0">
                <a:solidFill>
                  <a:srgbClr val="F6F7FB"/>
                </a:solidFill>
              </a:rPr>
              <a:t>Read the room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1BA4F9-8122-4E48-9302-324850FC7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200525"/>
            <a:ext cx="31718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75" b="0" i="0">
                <a:solidFill>
                  <a:srgbClr val="AAB2CF"/>
                </a:solidFill>
              </a:defRPr>
            </a:pPr>
            <a:r>
              <a:rPr sz="975" b="0" i="0">
                <a:solidFill>
                  <a:srgbClr val="AAB2CF"/>
                </a:solidFill>
              </a:rPr>
              <a:t>Live status metrics surface risk concentration and release outcomes at a glance.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1B345A-1974-403B-8AAA-072E9E750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095875"/>
            <a:ext cx="1571625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181D34"/>
          </a:solidFill>
          <a:ln xmlns:a="http://schemas.openxmlformats.org/drawingml/2006/main" w="9525">
            <a:solidFill>
              <a:srgbClr val="2D365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E2A57BA-4E7B-4CE4-9EAA-876158A18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5238750"/>
            <a:ext cx="12287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100" b="1" i="0">
                <a:solidFill>
                  <a:srgbClr val="22D3EE"/>
                </a:solidFill>
              </a:defRPr>
            </a:defPPr>
          </a:lstStyle>
          <a:p xmlns:a="http://schemas.openxmlformats.org/drawingml/2006/main">
            <a:pPr algn="l">
              <a:defRPr sz="2100" b="1" i="0">
                <a:solidFill>
                  <a:srgbClr val="22D3EE"/>
                </a:solidFill>
              </a:defRPr>
            </a:pPr>
            <a:r>
              <a:rPr sz="2100" b="1" i="0">
                <a:solidFill>
                  <a:srgbClr val="22D3EE"/>
                </a:solidFill>
              </a:rPr>
              <a:t>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90A5E1-B2C2-4343-A5F3-B8FAF5B72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5657850"/>
            <a:ext cx="12287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1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AAB2CF"/>
                </a:solidFill>
              </a:defRPr>
            </a:pPr>
            <a:r>
              <a:rPr sz="900" b="1" i="0">
                <a:solidFill>
                  <a:srgbClr val="AAB2CF"/>
                </a:solidFill>
              </a:rPr>
              <a:t>RELEASE STATES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E40799-D6DD-4F49-A075-BA6371934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5095875"/>
            <a:ext cx="1571625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181D34"/>
          </a:solidFill>
          <a:ln xmlns:a="http://schemas.openxmlformats.org/drawingml/2006/main" w="9525">
            <a:solidFill>
              <a:srgbClr val="2D365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ADD59C-421D-4364-B595-3B82771FA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238750"/>
            <a:ext cx="12287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100" b="1" i="0">
                <a:solidFill>
                  <a:srgbClr val="34D399"/>
                </a:solidFill>
              </a:defRPr>
            </a:defPPr>
          </a:lstStyle>
          <a:p xmlns:a="http://schemas.openxmlformats.org/drawingml/2006/main">
            <a:pPr algn="l">
              <a:defRPr sz="2100" b="1" i="0">
                <a:solidFill>
                  <a:srgbClr val="34D399"/>
                </a:solidFill>
              </a:defRPr>
            </a:pPr>
            <a:r>
              <a:rPr sz="2100" b="1" i="0">
                <a:solidFill>
                  <a:srgbClr val="34D399"/>
                </a:solidFill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F3D955C-1769-41EF-AC4A-651B8DD66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657850"/>
            <a:ext cx="12287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1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AAB2CF"/>
                </a:solidFill>
              </a:defRPr>
            </a:pPr>
            <a:r>
              <a:rPr sz="900" b="1" i="0">
                <a:solidFill>
                  <a:srgbClr val="AAB2CF"/>
                </a:solidFill>
              </a:rPr>
              <a:t>ENVIRONMENTS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9FF9E6-5C25-4085-BEC1-2418A2765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740A78E-3FFC-4B4A-816B-940F86AC2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4762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AAB2CF"/>
                </a:solidFill>
              </a:defRPr>
            </a:pPr>
            <a:r>
              <a:rPr sz="675" b="1" i="0">
                <a:solidFill>
                  <a:srgbClr val="AAB2CF"/>
                </a:solidFill>
              </a:rPr>
              <a:t>DEPLOYFLOW · DEVOPS CAPSTONE</a:t>
            </a:r>
          </a:p>
        </p:txBody>
      </p:sp>
    </p:spTree>
    <p:extLst>
      <p:ext uri="{BB962C8B-B14F-4D97-AF65-F5344CB8AC3E}">
        <p14:creationId xmlns:p14="http://schemas.microsoft.com/office/powerpoint/2010/main" val="16824755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80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0968B72-66BA-4DA9-86C9-3D0CCACEB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04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1" i="0">
                <a:solidFill>
                  <a:srgbClr val="22D3EE"/>
                </a:solidFill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22D3EE"/>
                </a:solidFill>
              </a:defRPr>
            </a:pPr>
            <a:r>
              <a:rPr sz="900" b="1" i="0">
                <a:solidFill>
                  <a:srgbClr val="22D3EE"/>
                </a:solidFill>
              </a:rPr>
              <a:t>02 ·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FBC2A2-02A8-4D1B-8325-EE99BEB83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1000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550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2550" b="1" i="0">
                <a:solidFill>
                  <a:srgbClr val="F6F7FB"/>
                </a:solidFill>
              </a:defRPr>
            </a:pPr>
            <a:r>
              <a:rPr sz="2550" b="1" i="0">
                <a:solidFill>
                  <a:srgbClr val="F6F7FB"/>
                </a:solidFill>
              </a:rPr>
              <a:t>One delivery path, seven verifiable layers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E66C60-FBD7-454B-B6E7-6EA6E9349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981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1200" b="0" i="0">
                <a:solidFill>
                  <a:srgbClr val="AAB2CF"/>
                </a:solidFill>
              </a:defRPr>
            </a:pPr>
            <a:r>
              <a:rPr sz="1200" b="0" i="0">
                <a:solidFill>
                  <a:srgbClr val="AAB2CF"/>
                </a:solidFill>
              </a:rPr>
              <a:t>The same application moves from source checks to containers, Kubernetes, and telemetry.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4C0CF0-AA92-4166-AA7E-F4DCA90CF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381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900" b="1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r">
              <a:defRPr sz="900" b="1" i="0">
                <a:solidFill>
                  <a:srgbClr val="AAB2CF"/>
                </a:solidFill>
              </a:defRPr>
            </a:pPr>
            <a:r>
              <a:rPr sz="900" b="1" i="0">
                <a:solidFill>
                  <a:srgbClr val="AAB2CF"/>
                </a:solidFill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52854C-D822-49A6-AF3B-A4228FF00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24100"/>
            <a:ext cx="135255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81D34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13EEB7-578B-424B-8B94-7766B5C46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62225"/>
            <a:ext cx="1085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1200" b="1" i="0">
                <a:solidFill>
                  <a:srgbClr val="22D3EE"/>
                </a:solidFill>
              </a:defRPr>
            </a:defPPr>
          </a:lstStyle>
          <a:p xmlns:a="http://schemas.openxmlformats.org/drawingml/2006/main">
            <a:pPr algn="ctr">
              <a:defRPr sz="1200" b="1" i="0">
                <a:solidFill>
                  <a:srgbClr val="22D3EE"/>
                </a:solidFill>
              </a:defRPr>
            </a:pPr>
            <a:r>
              <a:rPr sz="1200" b="1" i="0">
                <a:solidFill>
                  <a:srgbClr val="22D3EE"/>
                </a:solidFill>
              </a:rPr>
              <a:t>React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2CA5E9-4B7F-4E20-8222-67B53E656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09900"/>
            <a:ext cx="108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900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ctr">
              <a:defRPr sz="900" b="0" i="0">
                <a:solidFill>
                  <a:srgbClr val="AAB2CF"/>
                </a:solidFill>
              </a:defRPr>
            </a:pPr>
            <a:r>
              <a:rPr sz="900" b="0" i="0">
                <a:solidFill>
                  <a:srgbClr val="AAB2CF"/>
                </a:solidFill>
              </a:rPr>
              <a:t>Operator UI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36950E-4723-44E2-977F-944733DEE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8825" y="2981325"/>
            <a:ext cx="133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8EFB1F-1C32-4720-9AC2-3DAC5D7A5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5975" y="2924175"/>
            <a:ext cx="171450" cy="1524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FADF80-AFF1-475B-99AA-62F0A5E69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324100"/>
            <a:ext cx="135255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81D34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136527-13D0-4C0F-B581-3702835CB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562225"/>
            <a:ext cx="1085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1200" b="1" i="0">
                <a:solidFill>
                  <a:srgbClr val="34D399"/>
                </a:solidFill>
              </a:defRPr>
            </a:defPPr>
          </a:lstStyle>
          <a:p xmlns:a="http://schemas.openxmlformats.org/drawingml/2006/main">
            <a:pPr algn="ctr">
              <a:defRPr sz="1200" b="1" i="0">
                <a:solidFill>
                  <a:srgbClr val="34D399"/>
                </a:solidFill>
              </a:defRPr>
            </a:pPr>
            <a:r>
              <a:rPr sz="1200" b="1" i="0">
                <a:solidFill>
                  <a:srgbClr val="34D399"/>
                </a:solidFill>
              </a:rPr>
              <a:t>FastAPI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49D5DC-84B5-40AA-9E19-8B5982987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009900"/>
            <a:ext cx="108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900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ctr">
              <a:defRPr sz="900" b="0" i="0">
                <a:solidFill>
                  <a:srgbClr val="AAB2CF"/>
                </a:solidFill>
              </a:defRPr>
            </a:pPr>
            <a:r>
              <a:rPr sz="900" b="0" i="0">
                <a:solidFill>
                  <a:srgbClr val="AAB2CF"/>
                </a:solidFill>
              </a:rPr>
              <a:t>REST + metrics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86F19D-3060-44C5-B65B-228E9E026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2981325"/>
            <a:ext cx="133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228E18-C3AF-4804-8361-CE5CF2B00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2924175"/>
            <a:ext cx="171450" cy="1524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5AC3E61-A2F2-49CD-B256-B7B3955E0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24100"/>
            <a:ext cx="135255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81D34"/>
          </a:solidFill>
          <a:ln xmlns:a="http://schemas.openxmlformats.org/drawingml/2006/main" w="9525">
            <a:solidFill>
              <a:srgbClr val="8B5CF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A21344D-6043-412E-A20A-455F158C9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562225"/>
            <a:ext cx="1085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1200" b="1" i="0">
                <a:solidFill>
                  <a:srgbClr val="8B5CF6"/>
                </a:solidFill>
              </a:defRPr>
            </a:defPPr>
          </a:lstStyle>
          <a:p xmlns:a="http://schemas.openxmlformats.org/drawingml/2006/main">
            <a:pPr algn="ctr">
              <a:defRPr sz="1200" b="1" i="0">
                <a:solidFill>
                  <a:srgbClr val="8B5CF6"/>
                </a:solidFill>
              </a:defRPr>
            </a:pPr>
            <a:r>
              <a:rPr sz="1200" b="1" i="0">
                <a:solidFill>
                  <a:srgbClr val="8B5CF6"/>
                </a:solidFill>
              </a:rPr>
              <a:t>PostgreSQL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3A2E32F-05B3-4F08-ABE7-F4B8B5793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009900"/>
            <a:ext cx="108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900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ctr">
              <a:defRPr sz="900" b="0" i="0">
                <a:solidFill>
                  <a:srgbClr val="AAB2CF"/>
                </a:solidFill>
              </a:defRPr>
            </a:pPr>
            <a:r>
              <a:rPr sz="900" b="0" i="0">
                <a:solidFill>
                  <a:srgbClr val="AAB2CF"/>
                </a:solidFill>
              </a:rPr>
              <a:t>Release state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AC12D5-1FBE-4341-B7DE-C194AFF5E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3025" y="2981325"/>
            <a:ext cx="133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184132C-00A4-42F3-A629-D5960B28B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2924175"/>
            <a:ext cx="171450" cy="1524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1C8AD9-79A7-4A90-A8CE-8D5458418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324100"/>
            <a:ext cx="135255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81D34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F1ECF6-4632-4948-864E-FFC24C963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562225"/>
            <a:ext cx="1085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1200" b="1" i="0">
                <a:solidFill>
                  <a:srgbClr val="22D3EE"/>
                </a:solidFill>
              </a:defRPr>
            </a:defPPr>
          </a:lstStyle>
          <a:p xmlns:a="http://schemas.openxmlformats.org/drawingml/2006/main">
            <a:pPr algn="ctr">
              <a:defRPr sz="1200" b="1" i="0">
                <a:solidFill>
                  <a:srgbClr val="22D3EE"/>
                </a:solidFill>
              </a:defRPr>
            </a:pPr>
            <a:r>
              <a:rPr sz="1200" b="1" i="0">
                <a:solidFill>
                  <a:srgbClr val="22D3EE"/>
                </a:solidFill>
              </a:rPr>
              <a:t>Docker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802ED7C-3A39-4851-9261-03E6AFD1E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009900"/>
            <a:ext cx="108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900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ctr">
              <a:defRPr sz="900" b="0" i="0">
                <a:solidFill>
                  <a:srgbClr val="AAB2CF"/>
                </a:solidFill>
              </a:defRPr>
            </a:pPr>
            <a:r>
              <a:rPr sz="900" b="0" i="0">
                <a:solidFill>
                  <a:srgbClr val="AAB2CF"/>
                </a:solidFill>
              </a:rPr>
              <a:t>Reproducible images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E5D1C6A-7BD4-4474-BB9B-F8F7D88CC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2981325"/>
            <a:ext cx="133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141EDA-5BB8-4A8A-9E25-EEA9E6867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2924175"/>
            <a:ext cx="171450" cy="1524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440F4EB-D02B-4389-97A1-8419D97C9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324100"/>
            <a:ext cx="135255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81D34"/>
          </a:solidFill>
          <a:ln xmlns:a="http://schemas.openxmlformats.org/drawingml/2006/main" w="9525">
            <a:solidFill>
              <a:srgbClr val="8B5CF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23006D5-89C3-434A-9666-9972EA063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562225"/>
            <a:ext cx="1085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1200" b="1" i="0">
                <a:solidFill>
                  <a:srgbClr val="8B5CF6"/>
                </a:solidFill>
              </a:defRPr>
            </a:defPPr>
          </a:lstStyle>
          <a:p xmlns:a="http://schemas.openxmlformats.org/drawingml/2006/main">
            <a:pPr algn="ctr">
              <a:defRPr sz="1200" b="1" i="0">
                <a:solidFill>
                  <a:srgbClr val="8B5CF6"/>
                </a:solidFill>
              </a:defRPr>
            </a:pPr>
            <a:r>
              <a:rPr sz="1200" b="1" i="0">
                <a:solidFill>
                  <a:srgbClr val="8B5CF6"/>
                </a:solidFill>
              </a:rPr>
              <a:t>GitHub Actions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F64440E-56C1-4C72-99F2-85674CEA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009900"/>
            <a:ext cx="108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900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ctr">
              <a:defRPr sz="900" b="0" i="0">
                <a:solidFill>
                  <a:srgbClr val="AAB2CF"/>
                </a:solidFill>
              </a:defRPr>
            </a:pPr>
            <a:r>
              <a:rPr sz="900" b="0" i="0">
                <a:solidFill>
                  <a:srgbClr val="AAB2CF"/>
                </a:solidFill>
              </a:rPr>
              <a:t>Test · scan · push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542391-3BC5-4463-945B-10B59A3CF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981325"/>
            <a:ext cx="133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87F7902-E4BF-49F5-8903-5BA95D618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924175"/>
            <a:ext cx="171450" cy="1524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EBD1C5B-6759-4277-8E7B-D4F734CAC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324100"/>
            <a:ext cx="135255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81D34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BE9DFEB-A5EA-43FF-BE41-957FF9B70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562225"/>
            <a:ext cx="1085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1200" b="1" i="0">
                <a:solidFill>
                  <a:srgbClr val="34D399"/>
                </a:solidFill>
              </a:defRPr>
            </a:defPPr>
          </a:lstStyle>
          <a:p xmlns:a="http://schemas.openxmlformats.org/drawingml/2006/main">
            <a:pPr algn="ctr">
              <a:defRPr sz="1200" b="1" i="0">
                <a:solidFill>
                  <a:srgbClr val="34D399"/>
                </a:solidFill>
              </a:defRPr>
            </a:pPr>
            <a:r>
              <a:rPr sz="1200" b="1" i="0">
                <a:solidFill>
                  <a:srgbClr val="34D399"/>
                </a:solidFill>
              </a:rPr>
              <a:t>Helm + EKS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6ED424A-03CA-4075-BEDD-A7764C0EA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009900"/>
            <a:ext cx="108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900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ctr">
              <a:defRPr sz="900" b="0" i="0">
                <a:solidFill>
                  <a:srgbClr val="AAB2CF"/>
                </a:solidFill>
              </a:defRPr>
            </a:pPr>
            <a:r>
              <a:rPr sz="900" b="0" i="0">
                <a:solidFill>
                  <a:srgbClr val="AAB2CF"/>
                </a:solidFill>
              </a:rPr>
              <a:t>Declarative runtime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704CABE-0EA9-4AC6-860F-E6111C4C7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2981325"/>
            <a:ext cx="133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C18C26B-60FD-4794-923A-3E28D1A26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2924175"/>
            <a:ext cx="171450" cy="1524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A841BE3-44B4-4B1C-86F4-49BE3AFF4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324100"/>
            <a:ext cx="135255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81D34"/>
          </a:solidFill>
          <a:ln xmlns:a="http://schemas.openxmlformats.org/drawingml/2006/main" w="9525">
            <a:solidFill>
              <a:srgbClr val="FBBF24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295B11D-FB22-4CE8-8171-644312737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2562225"/>
            <a:ext cx="1085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1200" b="1" i="0">
                <a:solidFill>
                  <a:srgbClr val="FBBF24"/>
                </a:solidFill>
              </a:defRPr>
            </a:defPPr>
          </a:lstStyle>
          <a:p xmlns:a="http://schemas.openxmlformats.org/drawingml/2006/main">
            <a:pPr algn="ctr">
              <a:defRPr sz="1200" b="1" i="0">
                <a:solidFill>
                  <a:srgbClr val="FBBF24"/>
                </a:solidFill>
              </a:defRPr>
            </a:pPr>
            <a:r>
              <a:rPr sz="1200" b="1" i="0">
                <a:solidFill>
                  <a:srgbClr val="FBBF24"/>
                </a:solidFill>
              </a:rPr>
              <a:t>Prometheus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6EEC990-CC58-4E80-86D9-9B8E16000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3009900"/>
            <a:ext cx="108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900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ctr">
              <a:defRPr sz="900" b="0" i="0">
                <a:solidFill>
                  <a:srgbClr val="AAB2CF"/>
                </a:solidFill>
              </a:defRPr>
            </a:pPr>
            <a:r>
              <a:rPr sz="900" b="0" i="0">
                <a:solidFill>
                  <a:srgbClr val="AAB2CF"/>
                </a:solidFill>
              </a:rPr>
              <a:t>Operational feedback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D3D0B84-3ECF-4159-B020-07350793A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06717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350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350" b="1" i="0">
                <a:solidFill>
                  <a:srgbClr val="F6F7FB"/>
                </a:solidFill>
              </a:defRPr>
            </a:pPr>
            <a:r>
              <a:rPr sz="1350" b="1" i="0">
                <a:solidFill>
                  <a:srgbClr val="F6F7FB"/>
                </a:solidFill>
              </a:rPr>
              <a:t>Build once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CC84CCC-48AA-484B-AC99-0D99069CA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419600"/>
            <a:ext cx="30861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050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1050" b="0" i="0">
                <a:solidFill>
                  <a:srgbClr val="AAB2CF"/>
                </a:solidFill>
              </a:defRPr>
            </a:pPr>
            <a:r>
              <a:rPr sz="1050" b="0" i="0">
                <a:solidFill>
                  <a:srgbClr val="AAB2CF"/>
                </a:solidFill>
              </a:rPr>
              <a:t>Immutable images are tagged with the commit SHA, scanned, and promoted through Helm values.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CCA2025-400F-41D5-AEB6-9A2A4A150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06717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350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350" b="1" i="0">
                <a:solidFill>
                  <a:srgbClr val="F6F7FB"/>
                </a:solidFill>
              </a:defRPr>
            </a:pPr>
            <a:r>
              <a:rPr sz="1350" b="1" i="0">
                <a:solidFill>
                  <a:srgbClr val="F6F7FB"/>
                </a:solidFill>
              </a:rPr>
              <a:t>Operate safely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A49984A-C9A9-4DE0-B6F3-A912C2045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419600"/>
            <a:ext cx="30861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050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1050" b="0" i="0">
                <a:solidFill>
                  <a:srgbClr val="AAB2CF"/>
                </a:solidFill>
              </a:defRPr>
            </a:pPr>
            <a:r>
              <a:rPr sz="1050" b="0" i="0">
                <a:solidFill>
                  <a:srgbClr val="AAB2CF"/>
                </a:solidFill>
              </a:rPr>
              <a:t>Non-root workloads, health probes, resource limits, ingress routing, and autoscaling are encoded—not remembered.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691C5FC-3C96-4D24-9A30-2440E41B6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275" y="406717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350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350" b="1" i="0">
                <a:solidFill>
                  <a:srgbClr val="F6F7FB"/>
                </a:solidFill>
              </a:defRPr>
            </a:pPr>
            <a:r>
              <a:rPr sz="1350" b="1" i="0">
                <a:solidFill>
                  <a:srgbClr val="F6F7FB"/>
                </a:solidFill>
              </a:rPr>
              <a:t>Close the loop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29164E6-3196-4F6B-88FB-3A6239EC4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275" y="4419600"/>
            <a:ext cx="30861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050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1050" b="0" i="0">
                <a:solidFill>
                  <a:srgbClr val="AAB2CF"/>
                </a:solidFill>
              </a:defRPr>
            </a:pPr>
            <a:r>
              <a:rPr sz="1050" b="0" i="0">
                <a:solidFill>
                  <a:srgbClr val="AAB2CF"/>
                </a:solidFill>
              </a:rPr>
              <a:t>Prometheus scrapes the API; Grafana turns request behavior into a live operational signal.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C33EF0C-9E62-4458-B8C3-E4611DA3E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6AAE8BD-DDAD-4567-974E-51EA662F3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4762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AAB2CF"/>
                </a:solidFill>
              </a:defRPr>
            </a:pPr>
            <a:r>
              <a:rPr sz="675" b="1" i="0">
                <a:solidFill>
                  <a:srgbClr val="AAB2CF"/>
                </a:solidFill>
              </a:rPr>
              <a:t>DEPLOYFLOW · DEVOPS CAPSTONE</a:t>
            </a:r>
          </a:p>
        </p:txBody>
      </p:sp>
    </p:spTree>
    <p:extLst>
      <p:ext uri="{BB962C8B-B14F-4D97-AF65-F5344CB8AC3E}">
        <p14:creationId xmlns:p14="http://schemas.microsoft.com/office/powerpoint/2010/main" val="9014934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80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317AA9E-24BC-4D49-930A-B803D57B7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04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1" i="0">
                <a:solidFill>
                  <a:srgbClr val="22D3EE"/>
                </a:solidFill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22D3EE"/>
                </a:solidFill>
              </a:defRPr>
            </a:pPr>
            <a:r>
              <a:rPr sz="900" b="1" i="0">
                <a:solidFill>
                  <a:srgbClr val="22D3EE"/>
                </a:solidFill>
              </a:rPr>
              <a:t>03 · QUALITY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7122EC-625F-44D9-AD11-F16B7C9EA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1000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550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2550" b="1" i="0">
                <a:solidFill>
                  <a:srgbClr val="F6F7FB"/>
                </a:solidFill>
              </a:defRPr>
            </a:pPr>
            <a:r>
              <a:rPr sz="2550" b="1" i="0">
                <a:solidFill>
                  <a:srgbClr val="F6F7FB"/>
                </a:solidFill>
              </a:rPr>
              <a:t>The API is observable—and exercised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B325D9-9917-4416-A142-F1E9F6080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981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1200" b="0" i="0">
                <a:solidFill>
                  <a:srgbClr val="AAB2CF"/>
                </a:solidFill>
              </a:defRPr>
            </a:pPr>
            <a:r>
              <a:rPr sz="1200" b="0" i="0">
                <a:solidFill>
                  <a:srgbClr val="AAB2CF"/>
                </a:solidFill>
              </a:rPr>
              <a:t>Release CRUD, aggregate statistics, health, readiness, and Prometheus metrics are built in.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0CA156-6D44-4899-AFE6-EFD450AD4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381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900" b="1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r">
              <a:defRPr sz="900" b="1" i="0">
                <a:solidFill>
                  <a:srgbClr val="AAB2CF"/>
                </a:solidFill>
              </a:defRPr>
            </a:pPr>
            <a:r>
              <a:rPr sz="900" b="1" i="0">
                <a:solidFill>
                  <a:srgbClr val="AAB2CF"/>
                </a:solidFill>
              </a:rPr>
              <a:t>04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C25DE7-9136-4A5F-B1F3-7E42C25C861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f11e0f3c904ec9"/>
          <a:stretch xmlns:a="http://schemas.openxmlformats.org/drawingml/2006/main"/>
        </p:blipFill>
        <p:spPr>
          <a:xfrm xmlns:a="http://schemas.openxmlformats.org/drawingml/2006/main">
            <a:off x="609600" y="2010536"/>
            <a:ext cx="6715125" cy="3894203"/>
          </a:xfrm>
          <a:prstGeom xmlns:a="http://schemas.openxmlformats.org/drawingml/2006/main" prst="roundRect">
            <a:avLst>
              <a:gd name="adj" fmla="val 2637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B2D639-E977-443A-BD22-ABF4E792F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885950"/>
            <a:ext cx="17145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181D34"/>
          </a:solidFill>
          <a:ln xmlns:a="http://schemas.openxmlformats.org/drawingml/2006/main" w="9525">
            <a:solidFill>
              <a:srgbClr val="2D365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E972A9-2578-4DFF-A36E-9339A332D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028825"/>
            <a:ext cx="1371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100" b="1" i="0">
                <a:solidFill>
                  <a:srgbClr val="34D399"/>
                </a:solidFill>
              </a:defRPr>
            </a:defPPr>
          </a:lstStyle>
          <a:p xmlns:a="http://schemas.openxmlformats.org/drawingml/2006/main">
            <a:pPr algn="l">
              <a:defRPr sz="2100" b="1" i="0">
                <a:solidFill>
                  <a:srgbClr val="34D399"/>
                </a:solidFill>
              </a:defRPr>
            </a:pPr>
            <a:r>
              <a:rPr sz="2100" b="1" i="0">
                <a:solidFill>
                  <a:srgbClr val="34D399"/>
                </a:solidFill>
              </a:rPr>
              <a:t>9/9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744326-31A0-4A28-81B4-02A0F1BBF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447925"/>
            <a:ext cx="1371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1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AAB2CF"/>
                </a:solidFill>
              </a:defRPr>
            </a:pPr>
            <a:r>
              <a:rPr sz="900" b="1" i="0">
                <a:solidFill>
                  <a:srgbClr val="AAB2CF"/>
                </a:solidFill>
              </a:rPr>
              <a:t>PYTEST CASES PASS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54814E-F623-4977-99B7-372BC82D7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885950"/>
            <a:ext cx="17145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181D34"/>
          </a:solidFill>
          <a:ln xmlns:a="http://schemas.openxmlformats.org/drawingml/2006/main" w="9525">
            <a:solidFill>
              <a:srgbClr val="2D365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12DDED-0FDE-460F-8991-E673C7A92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028825"/>
            <a:ext cx="1371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100" b="1" i="0">
                <a:solidFill>
                  <a:srgbClr val="22D3EE"/>
                </a:solidFill>
              </a:defRPr>
            </a:defPPr>
          </a:lstStyle>
          <a:p xmlns:a="http://schemas.openxmlformats.org/drawingml/2006/main">
            <a:pPr algn="l">
              <a:defRPr sz="2100" b="1" i="0">
                <a:solidFill>
                  <a:srgbClr val="22D3EE"/>
                </a:solidFill>
              </a:defRPr>
            </a:pPr>
            <a:r>
              <a:rPr sz="2100" b="1" i="0">
                <a:solidFill>
                  <a:srgbClr val="22D3EE"/>
                </a:solidFill>
              </a:rPr>
              <a:t>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3F102F-5FD0-4217-8D37-E9510E57C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447925"/>
            <a:ext cx="1371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1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AAB2CF"/>
                </a:solidFill>
              </a:defRPr>
            </a:pPr>
            <a:r>
              <a:rPr sz="900" b="1" i="0">
                <a:solidFill>
                  <a:srgbClr val="AAB2CF"/>
                </a:solidFill>
              </a:rPr>
              <a:t>RUFF ERRORS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32F004-4EDE-462B-B412-30417E422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171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34D39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F1F4ED-7FAA-40B7-A87D-2BBB8D44A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124200"/>
            <a:ext cx="3314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F6F7FB"/>
                </a:solidFill>
              </a:defRPr>
            </a:pPr>
            <a:r>
              <a:rPr sz="1125" b="1" i="0">
                <a:solidFill>
                  <a:srgbClr val="F6F7FB"/>
                </a:solidFill>
              </a:rPr>
              <a:t>Behavior, not snapshots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86C205-8D3B-4C3C-8592-4815BD24F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371850"/>
            <a:ext cx="3314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75" b="0" i="0">
                <a:solidFill>
                  <a:srgbClr val="AAB2CF"/>
                </a:solidFill>
              </a:defRPr>
            </a:pPr>
            <a:r>
              <a:rPr sz="975" b="0" i="0">
                <a:solidFill>
                  <a:srgbClr val="AAB2CF"/>
                </a:solidFill>
              </a:rPr>
              <a:t>Create, validate, list, fetch, update, delete, stats, health, and readiness paths are covered.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B1917A-CAC2-4BC2-86AE-DCC2B39E3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2195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22D3E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726D7E0-3A37-4F83-A140-C59D2E44D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171950"/>
            <a:ext cx="3314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F6F7FB"/>
                </a:solidFill>
              </a:defRPr>
            </a:pPr>
            <a:r>
              <a:rPr sz="1125" b="1" i="0">
                <a:solidFill>
                  <a:srgbClr val="F6F7FB"/>
                </a:solidFill>
              </a:rPr>
              <a:t>Isolated test state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CB7C92-17F5-4B4D-9EA1-666A05106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419600"/>
            <a:ext cx="3314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75" b="0" i="0">
                <a:solidFill>
                  <a:srgbClr val="AAB2CF"/>
                </a:solidFill>
              </a:defRPr>
            </a:pPr>
            <a:r>
              <a:rPr sz="975" b="0" i="0">
                <a:solidFill>
                  <a:srgbClr val="AAB2CF"/>
                </a:solidFill>
              </a:rPr>
              <a:t>Each test suite overrides the database dependency with an in-memory SQLite engine.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2891009-7CD8-43EE-9641-15B263CA8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52673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solidFill>
              <a:srgbClr val="8B5CF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B658D6-4D56-4A2A-862A-F865B1C81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5219700"/>
            <a:ext cx="3314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F6F7FB"/>
                </a:solidFill>
              </a:defRPr>
            </a:pPr>
            <a:r>
              <a:rPr sz="1125" b="1" i="0">
                <a:solidFill>
                  <a:srgbClr val="F6F7FB"/>
                </a:solidFill>
              </a:rPr>
              <a:t>Machine-readable contract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572584-2327-47B6-A91C-F944F6956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5467350"/>
            <a:ext cx="3314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75" b="0" i="0">
                <a:solidFill>
                  <a:srgbClr val="AAB2CF"/>
                </a:solidFill>
              </a:defRPr>
            </a:pPr>
            <a:r>
              <a:rPr sz="975" b="0" i="0">
                <a:solidFill>
                  <a:srgbClr val="AAB2CF"/>
                </a:solidFill>
              </a:rPr>
              <a:t>Swagger documents every endpoint and schema directly from the running application.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77A0240-E20D-4DCC-8F26-AE670BD5C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C185879-8084-4ED9-A4F2-4832CB45B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4762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AAB2CF"/>
                </a:solidFill>
              </a:defRPr>
            </a:pPr>
            <a:r>
              <a:rPr sz="675" b="1" i="0">
                <a:solidFill>
                  <a:srgbClr val="AAB2CF"/>
                </a:solidFill>
              </a:rPr>
              <a:t>DEPLOYFLOW · DEVOPS CAPSTONE</a:t>
            </a:r>
          </a:p>
        </p:txBody>
      </p:sp>
    </p:spTree>
    <p:extLst>
      <p:ext uri="{BB962C8B-B14F-4D97-AF65-F5344CB8AC3E}">
        <p14:creationId xmlns:p14="http://schemas.microsoft.com/office/powerpoint/2010/main" val="17969127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80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C3E87C3-46F7-4B79-A659-AE67DB60B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04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1" i="0">
                <a:solidFill>
                  <a:srgbClr val="22D3EE"/>
                </a:solidFill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22D3EE"/>
                </a:solidFill>
              </a:defRPr>
            </a:pPr>
            <a:r>
              <a:rPr sz="900" b="1" i="0">
                <a:solidFill>
                  <a:srgbClr val="22D3EE"/>
                </a:solidFill>
              </a:rPr>
              <a:t>04 · DELIVERY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0E694A-2A4A-47C0-8142-A7BB221B2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1000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550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2550" b="1" i="0">
                <a:solidFill>
                  <a:srgbClr val="F6F7FB"/>
                </a:solidFill>
              </a:defRPr>
            </a:pPr>
            <a:r>
              <a:rPr sz="2550" b="1" i="0">
                <a:solidFill>
                  <a:srgbClr val="F6F7FB"/>
                </a:solidFill>
              </a:rPr>
              <a:t>Reproducible locally; gated in CI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63E155-49BC-4ED2-AFCD-80BAB6026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981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1200" b="0" i="0">
                <a:solidFill>
                  <a:srgbClr val="AAB2CF"/>
                </a:solidFill>
              </a:defRPr>
            </a:pPr>
            <a:r>
              <a:rPr sz="1200" b="0" i="0">
                <a:solidFill>
                  <a:srgbClr val="AAB2CF"/>
                </a:solidFill>
              </a:rPr>
              <a:t>Compose proves the full stack. GitHub Actions enforces tests, builds, vulnerability policy, and immutable image tags.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2BD792-F58B-4EA8-8CE6-2E62FC8CB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381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900" b="1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r">
              <a:defRPr sz="900" b="1" i="0">
                <a:solidFill>
                  <a:srgbClr val="AAB2CF"/>
                </a:solidFill>
              </a:defRPr>
            </a:pPr>
            <a:r>
              <a:rPr sz="900" b="1" i="0">
                <a:solidFill>
                  <a:srgbClr val="AAB2CF"/>
                </a:solidFill>
              </a:rPr>
              <a:t>05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129DEA-5FF4-4BBF-A4C5-BBA5ACDA9D9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9d66892eab479e"/>
          <a:stretch xmlns:a="http://schemas.openxmlformats.org/drawingml/2006/main"/>
        </p:blipFill>
        <p:spPr>
          <a:xfrm xmlns:a="http://schemas.openxmlformats.org/drawingml/2006/main">
            <a:off x="609600" y="2294775"/>
            <a:ext cx="5715000" cy="3240000"/>
          </a:xfrm>
          <a:prstGeom xmlns:a="http://schemas.openxmlformats.org/drawingml/2006/main" prst="roundRect">
            <a:avLst>
              <a:gd name="adj" fmla="val 2715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D896E5-BEE7-4D60-B279-99839D842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1885950"/>
            <a:ext cx="4762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B5CF6">
              <a:alpha val="13333"/>
            </a:srgbClr>
          </a:solidFill>
          <a:ln xmlns:a="http://schemas.openxmlformats.org/drawingml/2006/main" w="9525">
            <a:solidFill>
              <a:srgbClr val="8B5CF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684FCA-9D5D-4617-AC72-606CED642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1952625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900" b="1" i="0">
                <a:solidFill>
                  <a:srgbClr val="8B5CF6"/>
                </a:solidFill>
              </a:defRPr>
            </a:defPPr>
          </a:lstStyle>
          <a:p xmlns:a="http://schemas.openxmlformats.org/drawingml/2006/main">
            <a:pPr algn="ctr">
              <a:defRPr sz="900" b="1" i="0">
                <a:solidFill>
                  <a:srgbClr val="8B5CF6"/>
                </a:solidFill>
              </a:defRPr>
            </a:pPr>
            <a:r>
              <a:rPr sz="900" b="1" i="0">
                <a:solidFill>
                  <a:srgbClr val="8B5CF6"/>
                </a:solidFill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8E21F8-D925-4F17-87F6-765998398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075" y="1809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F6F7FB"/>
                </a:solidFill>
              </a:defRPr>
            </a:pPr>
            <a:r>
              <a:rPr sz="1200" b="1" i="0">
                <a:solidFill>
                  <a:srgbClr val="F6F7FB"/>
                </a:solidFill>
              </a:rPr>
              <a:t>Test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C7697A-3C68-4372-B2A4-943F545FD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075" y="2095500"/>
            <a:ext cx="3562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75" b="0" i="0">
                <a:solidFill>
                  <a:srgbClr val="AAB2CF"/>
                </a:solidFill>
              </a:defRPr>
            </a:pPr>
            <a:r>
              <a:rPr sz="975" b="0" i="0">
                <a:solidFill>
                  <a:srgbClr val="AAB2CF"/>
                </a:solidFill>
              </a:rPr>
              <a:t>pytest · Ruff · npm build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A827EB-BDB7-45FC-9A5C-39322B18B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257425"/>
            <a:ext cx="19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CDFFE6-CF97-4881-A630-AEB66B9FE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705100"/>
            <a:ext cx="4762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B5CF6">
              <a:alpha val="13333"/>
            </a:srgbClr>
          </a:solidFill>
          <a:ln xmlns:a="http://schemas.openxmlformats.org/drawingml/2006/main" w="9525">
            <a:solidFill>
              <a:srgbClr val="8B5CF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62B302-70F9-4FC5-A7A1-6F073A37C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771775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900" b="1" i="0">
                <a:solidFill>
                  <a:srgbClr val="8B5CF6"/>
                </a:solidFill>
              </a:defRPr>
            </a:defPPr>
          </a:lstStyle>
          <a:p xmlns:a="http://schemas.openxmlformats.org/drawingml/2006/main">
            <a:pPr algn="ctr">
              <a:defRPr sz="900" b="1" i="0">
                <a:solidFill>
                  <a:srgbClr val="8B5CF6"/>
                </a:solidFill>
              </a:defRPr>
            </a:pPr>
            <a:r>
              <a:rPr sz="900" b="1" i="0">
                <a:solidFill>
                  <a:srgbClr val="8B5CF6"/>
                </a:solidFill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90DC26-0088-401B-BE0E-7BB2C099C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075" y="26289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F6F7FB"/>
                </a:solidFill>
              </a:defRPr>
            </a:pPr>
            <a:r>
              <a:rPr sz="1200" b="1" i="0">
                <a:solidFill>
                  <a:srgbClr val="F6F7FB"/>
                </a:solidFill>
              </a:rPr>
              <a:t>Build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4738E3-8B4E-4416-81EF-F8F1CF667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075" y="2914650"/>
            <a:ext cx="3562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75" b="0" i="0">
                <a:solidFill>
                  <a:srgbClr val="AAB2CF"/>
                </a:solidFill>
              </a:defRPr>
            </a:pPr>
            <a:r>
              <a:rPr sz="975" b="0" i="0">
                <a:solidFill>
                  <a:srgbClr val="AAB2CF"/>
                </a:solidFill>
              </a:rPr>
              <a:t>backend + frontend images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0A3EB2-6475-4B22-B899-F4C98675A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076575"/>
            <a:ext cx="19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54CCF0-2CD5-4ABD-9155-8B584CE81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24250"/>
            <a:ext cx="4762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BBF24">
              <a:alpha val="13333"/>
            </a:srgbClr>
          </a:solidFill>
          <a:ln xmlns:a="http://schemas.openxmlformats.org/drawingml/2006/main" w="9525">
            <a:solidFill>
              <a:srgbClr val="FBBF2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DABA80-45EA-47D0-8FBF-7E1EEFE38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590925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900" b="1" i="0">
                <a:solidFill>
                  <a:srgbClr val="FBBF24"/>
                </a:solidFill>
              </a:defRPr>
            </a:defPPr>
          </a:lstStyle>
          <a:p xmlns:a="http://schemas.openxmlformats.org/drawingml/2006/main">
            <a:pPr algn="ctr">
              <a:defRPr sz="900" b="1" i="0">
                <a:solidFill>
                  <a:srgbClr val="FBBF24"/>
                </a:solidFill>
              </a:defRPr>
            </a:pPr>
            <a:r>
              <a:rPr sz="900" b="1" i="0">
                <a:solidFill>
                  <a:srgbClr val="FBBF24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ACA57B-EA73-4655-BF8B-3BCC4D053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075" y="34480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F6F7FB"/>
                </a:solidFill>
              </a:defRPr>
            </a:pPr>
            <a:r>
              <a:rPr sz="1200" b="1" i="0">
                <a:solidFill>
                  <a:srgbClr val="F6F7FB"/>
                </a:solidFill>
              </a:rPr>
              <a:t>Scan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AA0C8F6-E8B2-4B25-B5DE-051AAD9CB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075" y="3733800"/>
            <a:ext cx="3562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75" b="0" i="0">
                <a:solidFill>
                  <a:srgbClr val="AAB2CF"/>
                </a:solidFill>
              </a:defRPr>
            </a:pPr>
            <a:r>
              <a:rPr sz="975" b="0" i="0">
                <a:solidFill>
                  <a:srgbClr val="AAB2CF"/>
                </a:solidFill>
              </a:rPr>
              <a:t>Trivy HIGH/CRITICAL gate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0B36783-F6AF-46B1-A566-43FE5FCC2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895725"/>
            <a:ext cx="19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D0E9E89-7B90-45B6-B57A-C96EE2F48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343400"/>
            <a:ext cx="4762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B5CF6">
              <a:alpha val="13333"/>
            </a:srgbClr>
          </a:solidFill>
          <a:ln xmlns:a="http://schemas.openxmlformats.org/drawingml/2006/main" w="9525">
            <a:solidFill>
              <a:srgbClr val="8B5CF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A51590E-9DC1-4A48-8E0C-262A4549F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410075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900" b="1" i="0">
                <a:solidFill>
                  <a:srgbClr val="8B5CF6"/>
                </a:solidFill>
              </a:defRPr>
            </a:defPPr>
          </a:lstStyle>
          <a:p xmlns:a="http://schemas.openxmlformats.org/drawingml/2006/main">
            <a:pPr algn="ctr">
              <a:defRPr sz="900" b="1" i="0">
                <a:solidFill>
                  <a:srgbClr val="8B5CF6"/>
                </a:solidFill>
              </a:defRPr>
            </a:pPr>
            <a:r>
              <a:rPr sz="900" b="1" i="0">
                <a:solidFill>
                  <a:srgbClr val="8B5CF6"/>
                </a:solidFill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5602B0C-7FE4-4C55-AE72-E6B1A8557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075" y="42672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F6F7FB"/>
                </a:solidFill>
              </a:defRPr>
            </a:pPr>
            <a:r>
              <a:rPr sz="1200" b="1" i="0">
                <a:solidFill>
                  <a:srgbClr val="F6F7FB"/>
                </a:solidFill>
              </a:rPr>
              <a:t>Publish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8CF3053-7D1E-4A93-B165-ACEECC9D2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075" y="4552950"/>
            <a:ext cx="3562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75" b="0" i="0">
                <a:solidFill>
                  <a:srgbClr val="AAB2CF"/>
                </a:solidFill>
              </a:defRPr>
            </a:pPr>
            <a:r>
              <a:rPr sz="975" b="0" i="0">
                <a:solidFill>
                  <a:srgbClr val="AAB2CF"/>
                </a:solidFill>
              </a:rPr>
              <a:t>GHCR · commit SHA tags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7B6E71C-3065-4BA7-B613-6108290B7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714875"/>
            <a:ext cx="19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B9F891F-6744-426F-AFDF-81F8DF85F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5162550"/>
            <a:ext cx="4762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B5CF6">
              <a:alpha val="13333"/>
            </a:srgbClr>
          </a:solidFill>
          <a:ln xmlns:a="http://schemas.openxmlformats.org/drawingml/2006/main" w="9525">
            <a:solidFill>
              <a:srgbClr val="8B5CF6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583FE44-97EE-4C66-B686-CDC4C2EF4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5229225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900" b="1" i="0">
                <a:solidFill>
                  <a:srgbClr val="8B5CF6"/>
                </a:solidFill>
              </a:defRPr>
            </a:defPPr>
          </a:lstStyle>
          <a:p xmlns:a="http://schemas.openxmlformats.org/drawingml/2006/main">
            <a:pPr algn="ctr">
              <a:defRPr sz="900" b="1" i="0">
                <a:solidFill>
                  <a:srgbClr val="8B5CF6"/>
                </a:solidFill>
              </a:defRPr>
            </a:pPr>
            <a:r>
              <a:rPr sz="900" b="1" i="0">
                <a:solidFill>
                  <a:srgbClr val="8B5CF6"/>
                </a:solidFill>
              </a:rPr>
              <a:t>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DA2FC06-45A3-43CF-A8B6-70BCCF339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075" y="50863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F6F7FB"/>
                </a:solidFill>
              </a:defRPr>
            </a:pPr>
            <a:r>
              <a:rPr sz="1200" b="1" i="0">
                <a:solidFill>
                  <a:srgbClr val="F6F7FB"/>
                </a:solidFill>
              </a:rPr>
              <a:t>Deploy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4A619D5-3116-4F48-89EA-F0AA7B931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075" y="5372100"/>
            <a:ext cx="3562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75" b="0" i="0">
                <a:solidFill>
                  <a:srgbClr val="AAB2CF"/>
                </a:solidFill>
              </a:defRPr>
            </a:pPr>
            <a:r>
              <a:rPr sz="975" b="0" i="0">
                <a:solidFill>
                  <a:srgbClr val="AAB2CF"/>
                </a:solidFill>
              </a:rPr>
              <a:t>Helm when kubeconfig exists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74967F4-269B-4727-BA0B-29DED1EB6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A89E8C0-4F98-4290-B8E0-E438CBC73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4762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AAB2CF"/>
                </a:solidFill>
              </a:defRPr>
            </a:pPr>
            <a:r>
              <a:rPr sz="675" b="1" i="0">
                <a:solidFill>
                  <a:srgbClr val="AAB2CF"/>
                </a:solidFill>
              </a:rPr>
              <a:t>DEPLOYFLOW · DEVOPS CAPSTONE</a:t>
            </a:r>
          </a:p>
        </p:txBody>
      </p:sp>
    </p:spTree>
    <p:extLst>
      <p:ext uri="{BB962C8B-B14F-4D97-AF65-F5344CB8AC3E}">
        <p14:creationId xmlns:p14="http://schemas.microsoft.com/office/powerpoint/2010/main" val="153662583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80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C6AFE9F-CE61-4511-86E3-242D05AF1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04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1" i="0">
                <a:solidFill>
                  <a:srgbClr val="22D3EE"/>
                </a:solidFill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22D3EE"/>
                </a:solidFill>
              </a:defRPr>
            </a:pPr>
            <a:r>
              <a:rPr sz="900" b="1" i="0">
                <a:solidFill>
                  <a:srgbClr val="22D3EE"/>
                </a:solidFill>
              </a:rPr>
              <a:t>05 · INFRASTRUCTURE AS CODE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ED4296-BCEC-419F-962A-143CAF01C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1000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550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2550" b="1" i="0">
                <a:solidFill>
                  <a:srgbClr val="F6F7FB"/>
                </a:solidFill>
              </a:defRPr>
            </a:pPr>
            <a:r>
              <a:rPr sz="2550" b="1" i="0">
                <a:solidFill>
                  <a:srgbClr val="F6F7FB"/>
                </a:solidFill>
              </a:rPr>
              <a:t>AWS architecture is explicit before it is expensive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BC24E9-77B2-4FED-A0D9-9AD121792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981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1200" b="0" i="0">
                <a:solidFill>
                  <a:srgbClr val="AAB2CF"/>
                </a:solidFill>
              </a:defRPr>
            </a:pPr>
            <a:r>
              <a:rPr sz="1200" b="0" i="0">
                <a:solidFill>
                  <a:srgbClr val="AAB2CF"/>
                </a:solidFill>
              </a:rPr>
              <a:t>Terraform defines a two-AZ VPC, private worker subnets, NAT egress, and a two-node managed EKS group.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DA0F5D-56B9-40F9-9410-138F718F9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381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900" b="1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r">
              <a:defRPr sz="900" b="1" i="0">
                <a:solidFill>
                  <a:srgbClr val="AAB2CF"/>
                </a:solidFill>
              </a:defRPr>
            </a:pPr>
            <a:r>
              <a:rPr sz="900" b="1" i="0">
                <a:solidFill>
                  <a:srgbClr val="AAB2CF"/>
                </a:solidFill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056B44-4A1B-475D-A97E-98ECB9CEF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7286625" cy="4095750"/>
          </a:xfrm>
          <a:prstGeom xmlns:a="http://schemas.openxmlformats.org/drawingml/2006/main" prst="roundRect">
            <a:avLst>
              <a:gd name="adj" fmla="val 3721"/>
            </a:avLst>
          </a:prstGeom>
          <a:solidFill xmlns:a="http://schemas.openxmlformats.org/drawingml/2006/main">
            <a:srgbClr val="12172A"/>
          </a:solidFill>
          <a:ln xmlns:a="http://schemas.openxmlformats.org/drawingml/2006/main" w="9525">
            <a:solidFill>
              <a:srgbClr val="2D365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21908D-E1C8-4B29-9518-97FC54575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4787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22D3EE"/>
                </a:solidFill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22D3EE"/>
                </a:solidFill>
              </a:defRPr>
            </a:pPr>
            <a:r>
              <a:rPr sz="1200" b="1" i="0">
                <a:solidFill>
                  <a:srgbClr val="22D3EE"/>
                </a:solidFill>
              </a:rPr>
              <a:t>AWS VPC · 10.0.0.0/16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319817-343D-4F45-B6CE-7C9F14C12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28900"/>
            <a:ext cx="3067050" cy="2705100"/>
          </a:xfrm>
          <a:prstGeom xmlns:a="http://schemas.openxmlformats.org/drawingml/2006/main" prst="roundRect">
            <a:avLst>
              <a:gd name="adj" fmla="val 4225"/>
            </a:avLst>
          </a:prstGeom>
          <a:solidFill xmlns:a="http://schemas.openxmlformats.org/drawingml/2006/main">
            <a:srgbClr val="181D34"/>
          </a:solidFill>
          <a:ln xmlns:a="http://schemas.openxmlformats.org/drawingml/2006/main" w="9525">
            <a:solidFill>
              <a:srgbClr val="2D365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DD0D9A-FAC9-4AB1-BB3F-0B0111D08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819400"/>
            <a:ext cx="2686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F6F7FB"/>
                </a:solidFill>
              </a:defRPr>
            </a:pPr>
            <a:r>
              <a:rPr sz="1125" b="1" i="0">
                <a:solidFill>
                  <a:srgbClr val="F6F7FB"/>
                </a:solidFill>
              </a:rPr>
              <a:t>Availability Zone 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517B5E-6BC0-4FE2-A25A-E002B82EB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38500"/>
            <a:ext cx="123825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0D3340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06B6CB-021C-4669-A04A-20A151312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47662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975" b="1" i="0">
                <a:solidFill>
                  <a:srgbClr val="22D3EE"/>
                </a:solidFill>
              </a:defRPr>
            </a:defPPr>
          </a:lstStyle>
          <a:p xmlns:a="http://schemas.openxmlformats.org/drawingml/2006/main">
            <a:pPr algn="ctr">
              <a:defRPr sz="975" b="1" i="0">
                <a:solidFill>
                  <a:srgbClr val="22D3EE"/>
                </a:solidFill>
              </a:defRPr>
            </a:pPr>
            <a:r>
              <a:rPr sz="975" b="1" i="0">
                <a:solidFill>
                  <a:srgbClr val="22D3EE"/>
                </a:solidFill>
              </a:rPr>
              <a:t>Public subnet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509135-81A7-4BBA-93EE-9DE968786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238500"/>
            <a:ext cx="1238250" cy="14287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202047"/>
          </a:solidFill>
          <a:ln xmlns:a="http://schemas.openxmlformats.org/drawingml/2006/main" w="9525">
            <a:solidFill>
              <a:srgbClr val="8B5CF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7B8E7A-37C7-4586-81AE-D6EB31F08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476625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975" b="1" i="0">
                <a:solidFill>
                  <a:srgbClr val="8B5CF6"/>
                </a:solidFill>
              </a:defRPr>
            </a:defPPr>
          </a:lstStyle>
          <a:p xmlns:a="http://schemas.openxmlformats.org/drawingml/2006/main">
            <a:pPr algn="ctr">
              <a:defRPr sz="975" b="1" i="0">
                <a:solidFill>
                  <a:srgbClr val="8B5CF6"/>
                </a:solidFill>
              </a:defRPr>
            </a:pPr>
            <a:r>
              <a:rPr sz="975" b="1" i="0">
                <a:solidFill>
                  <a:srgbClr val="8B5CF6"/>
                </a:solidFill>
              </a:rPr>
              <a:t>Private subnet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4235E2-0A0A-4B0B-AA7B-22FD557BA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9433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975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ctr">
              <a:defRPr sz="975" b="1" i="0">
                <a:solidFill>
                  <a:srgbClr val="F6F7FB"/>
                </a:solidFill>
              </a:defRPr>
            </a:pPr>
            <a:r>
              <a:rPr sz="975" b="1" i="0">
                <a:solidFill>
                  <a:srgbClr val="F6F7FB"/>
                </a:solidFill>
              </a:rPr>
              <a:t>EKS worker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9FE425-DF3F-4CF0-80C9-5494F342E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191000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825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ctr">
              <a:defRPr sz="825" b="0" i="0">
                <a:solidFill>
                  <a:srgbClr val="AAB2CF"/>
                </a:solidFill>
              </a:defRPr>
            </a:pPr>
            <a:r>
              <a:rPr sz="825" b="0" i="0">
                <a:solidFill>
                  <a:srgbClr val="AAB2CF"/>
                </a:solidFill>
              </a:rPr>
              <a:t>managed node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688436-5E8F-46D1-97F7-6CC3D49F5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7425" y="3619500"/>
            <a:ext cx="209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EEFD643-133D-41F6-B175-D4EA06005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3562350"/>
            <a:ext cx="171450" cy="1524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A2A7C0-623E-4F72-9E2C-5E5AB03D1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2628900"/>
            <a:ext cx="3067050" cy="2705100"/>
          </a:xfrm>
          <a:prstGeom xmlns:a="http://schemas.openxmlformats.org/drawingml/2006/main" prst="roundRect">
            <a:avLst>
              <a:gd name="adj" fmla="val 4225"/>
            </a:avLst>
          </a:prstGeom>
          <a:solidFill xmlns:a="http://schemas.openxmlformats.org/drawingml/2006/main">
            <a:srgbClr val="181D34"/>
          </a:solidFill>
          <a:ln xmlns:a="http://schemas.openxmlformats.org/drawingml/2006/main" w="9525">
            <a:solidFill>
              <a:srgbClr val="2D365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BAC327-F9A2-4BFD-954F-C48BFBF93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2819400"/>
            <a:ext cx="2686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F6F7FB"/>
                </a:solidFill>
              </a:defRPr>
            </a:pPr>
            <a:r>
              <a:rPr sz="1125" b="1" i="0">
                <a:solidFill>
                  <a:srgbClr val="F6F7FB"/>
                </a:solidFill>
              </a:rPr>
              <a:t>Availability Zone 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42D5C9-3773-498E-B173-0EC9FBAF6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3238500"/>
            <a:ext cx="123825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0D3340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EE8207-866A-4C7A-BBA8-1409D5460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347662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975" b="1" i="0">
                <a:solidFill>
                  <a:srgbClr val="22D3EE"/>
                </a:solidFill>
              </a:defRPr>
            </a:defPPr>
          </a:lstStyle>
          <a:p xmlns:a="http://schemas.openxmlformats.org/drawingml/2006/main">
            <a:pPr algn="ctr">
              <a:defRPr sz="975" b="1" i="0">
                <a:solidFill>
                  <a:srgbClr val="22D3EE"/>
                </a:solidFill>
              </a:defRPr>
            </a:pPr>
            <a:r>
              <a:rPr sz="975" b="1" i="0">
                <a:solidFill>
                  <a:srgbClr val="22D3EE"/>
                </a:solidFill>
              </a:rPr>
              <a:t>Public subnet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3754961-6DAC-44A1-BB0A-1E883C613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3238500"/>
            <a:ext cx="1238250" cy="14287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202047"/>
          </a:solidFill>
          <a:ln xmlns:a="http://schemas.openxmlformats.org/drawingml/2006/main" w="9525">
            <a:solidFill>
              <a:srgbClr val="8B5CF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495DFDC-9739-46B1-A007-B51BCBB66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476625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975" b="1" i="0">
                <a:solidFill>
                  <a:srgbClr val="8B5CF6"/>
                </a:solidFill>
              </a:defRPr>
            </a:defPPr>
          </a:lstStyle>
          <a:p xmlns:a="http://schemas.openxmlformats.org/drawingml/2006/main">
            <a:pPr algn="ctr">
              <a:defRPr sz="975" b="1" i="0">
                <a:solidFill>
                  <a:srgbClr val="8B5CF6"/>
                </a:solidFill>
              </a:defRPr>
            </a:pPr>
            <a:r>
              <a:rPr sz="975" b="1" i="0">
                <a:solidFill>
                  <a:srgbClr val="8B5CF6"/>
                </a:solidFill>
              </a:rPr>
              <a:t>Private subnet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944B9CA-6F9E-4AEC-B44A-C6E30FE02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9433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975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ctr">
              <a:defRPr sz="975" b="1" i="0">
                <a:solidFill>
                  <a:srgbClr val="F6F7FB"/>
                </a:solidFill>
              </a:defRPr>
            </a:pPr>
            <a:r>
              <a:rPr sz="975" b="1" i="0">
                <a:solidFill>
                  <a:srgbClr val="F6F7FB"/>
                </a:solidFill>
              </a:rPr>
              <a:t>EKS worker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0F97B8A-7BA1-4651-8116-D6AE40977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191000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825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ctr">
              <a:defRPr sz="825" b="0" i="0">
                <a:solidFill>
                  <a:srgbClr val="AAB2CF"/>
                </a:solidFill>
              </a:defRPr>
            </a:pPr>
            <a:r>
              <a:rPr sz="825" b="0" i="0">
                <a:solidFill>
                  <a:srgbClr val="AAB2CF"/>
                </a:solidFill>
              </a:rPr>
              <a:t>managed node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DBCC0A7-E83F-48A7-A0E2-C3611CE94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619500"/>
            <a:ext cx="209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6E739D9-B7EF-40F1-B569-E1FF2BBAF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562350"/>
            <a:ext cx="171450" cy="1524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F7B565E-2FC0-4215-ACE1-8CE2A96CD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5505450"/>
            <a:ext cx="190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900" b="1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ctr">
              <a:defRPr sz="900" b="1" i="0">
                <a:solidFill>
                  <a:srgbClr val="AAB2CF"/>
                </a:solidFill>
              </a:defRPr>
            </a:pPr>
            <a:r>
              <a:rPr sz="900" b="1" i="0">
                <a:solidFill>
                  <a:srgbClr val="AAB2CF"/>
                </a:solidFill>
              </a:rPr>
              <a:t>Internet Gateway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FA4B836-EFB4-42EB-A934-719310AC4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550545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900" b="1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ctr">
              <a:defRPr sz="900" b="1" i="0">
                <a:solidFill>
                  <a:srgbClr val="AAB2CF"/>
                </a:solidFill>
              </a:defRPr>
            </a:pPr>
            <a:r>
              <a:rPr sz="900" b="1" i="0">
                <a:solidFill>
                  <a:srgbClr val="AAB2CF"/>
                </a:solidFill>
              </a:rPr>
              <a:t>NAT egress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C0411FF-28A6-4844-A62E-75963A651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952625"/>
            <a:ext cx="28575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181D34"/>
          </a:solidFill>
          <a:ln xmlns:a="http://schemas.openxmlformats.org/drawingml/2006/main" w="9525">
            <a:solidFill>
              <a:srgbClr val="2D365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0EB77C7-EE84-4C21-B562-B612C8097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095500"/>
            <a:ext cx="2514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100" b="1" i="0">
                <a:solidFill>
                  <a:srgbClr val="34D399"/>
                </a:solidFill>
              </a:defRPr>
            </a:defPPr>
          </a:lstStyle>
          <a:p xmlns:a="http://schemas.openxmlformats.org/drawingml/2006/main">
            <a:pPr algn="l">
              <a:defRPr sz="2100" b="1" i="0">
                <a:solidFill>
                  <a:srgbClr val="34D399"/>
                </a:solidFill>
              </a:defRPr>
            </a:pPr>
            <a:r>
              <a:rPr sz="2100" b="1" i="0">
                <a:solidFill>
                  <a:srgbClr val="34D399"/>
                </a:solidFill>
              </a:rPr>
              <a:t>VALID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8C1F98D-39A6-44A3-A557-AAB671DE1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514600"/>
            <a:ext cx="2514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1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AAB2CF"/>
                </a:solidFill>
              </a:defRPr>
            </a:pPr>
            <a:r>
              <a:rPr sz="900" b="1" i="0">
                <a:solidFill>
                  <a:srgbClr val="AAB2CF"/>
                </a:solidFill>
              </a:rPr>
              <a:t>TERRAFORM VALIDATE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DE51B3B-399E-4E31-B9B7-1419EDB11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190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22D3EE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7CEDF4A-80E0-4969-9863-F27787082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143250"/>
            <a:ext cx="2647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F6F7FB"/>
                </a:solidFill>
              </a:defRPr>
            </a:pPr>
            <a:r>
              <a:rPr sz="1125" b="1" i="0">
                <a:solidFill>
                  <a:srgbClr val="F6F7FB"/>
                </a:solidFill>
              </a:rPr>
              <a:t>Two availability zones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C5F9CD1-21D4-43A5-99CA-221B3CE8A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390900"/>
            <a:ext cx="2647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75" b="0" i="0">
                <a:solidFill>
                  <a:srgbClr val="AAB2CF"/>
                </a:solidFill>
              </a:defRPr>
            </a:pPr>
            <a:r>
              <a:rPr sz="975" b="0" i="0">
                <a:solidFill>
                  <a:srgbClr val="AAB2CF"/>
                </a:solidFill>
              </a:rPr>
              <a:t>Public and private subnet pairs are generated from the selected AWS region.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65F94A7-2308-417C-B44C-E64CA8017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143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solidFill>
              <a:srgbClr val="8B5CF6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6405263-78D8-473F-A2C1-88EEDB34D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095750"/>
            <a:ext cx="2647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F6F7FB"/>
                </a:solidFill>
              </a:defRPr>
            </a:pPr>
            <a:r>
              <a:rPr sz="1125" b="1" i="0">
                <a:solidFill>
                  <a:srgbClr val="F6F7FB"/>
                </a:solidFill>
              </a:rPr>
              <a:t>Production defaults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A840009-3219-4AA1-B2B2-DEE36511A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343400"/>
            <a:ext cx="2647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75" b="0" i="0">
                <a:solidFill>
                  <a:srgbClr val="AAB2CF"/>
                </a:solidFill>
              </a:defRPr>
            </a:pPr>
            <a:r>
              <a:rPr sz="975" b="0" i="0">
                <a:solidFill>
                  <a:srgbClr val="AAB2CF"/>
                </a:solidFill>
              </a:rPr>
              <a:t>Private workers, managed nodes, Kubernetes 1.36, and module/provider constraints are versioned.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5995B1B-11E8-4860-A3DC-2F86AA0A4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5095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solidFill>
              <a:srgbClr val="FBBF24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936EB8B-F528-43AF-AA34-BCDEB1366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5048250"/>
            <a:ext cx="2647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F6F7FB"/>
                </a:solidFill>
              </a:defRPr>
            </a:pPr>
            <a:r>
              <a:rPr sz="1125" b="1" i="0">
                <a:solidFill>
                  <a:srgbClr val="F6F7FB"/>
                </a:solidFill>
              </a:rPr>
              <a:t>Credential-safe evidence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161F452-817A-4FB8-AE07-245167AEC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5295900"/>
            <a:ext cx="2647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75" b="0" i="0">
                <a:solidFill>
                  <a:srgbClr val="AAB2CF"/>
                </a:solidFill>
              </a:defRPr>
            </a:pPr>
            <a:r>
              <a:rPr sz="975" b="0" i="0">
                <a:solidFill>
                  <a:srgbClr val="AAB2CF"/>
                </a:solidFill>
              </a:rPr>
              <a:t>Plan/apply are intentionally pending valid AWS credentials; no cloud result is fabricated.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360AED9-92EF-48FD-8811-C9D5FC13F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4A66CB3-D2AA-4F0E-850C-F365F3B65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4762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AAB2CF"/>
                </a:solidFill>
              </a:defRPr>
            </a:pPr>
            <a:r>
              <a:rPr sz="675" b="1" i="0">
                <a:solidFill>
                  <a:srgbClr val="AAB2CF"/>
                </a:solidFill>
              </a:rPr>
              <a:t>DEPLOYFLOW · DEVOPS CAPSTONE</a:t>
            </a:r>
          </a:p>
        </p:txBody>
      </p:sp>
    </p:spTree>
    <p:extLst>
      <p:ext uri="{BB962C8B-B14F-4D97-AF65-F5344CB8AC3E}">
        <p14:creationId xmlns:p14="http://schemas.microsoft.com/office/powerpoint/2010/main" val="173045309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80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C78AC46-D902-4E5D-B0A5-2D4BAFE0E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04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1" i="0">
                <a:solidFill>
                  <a:srgbClr val="22D3EE"/>
                </a:solidFill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22D3EE"/>
                </a:solidFill>
              </a:defRPr>
            </a:pPr>
            <a:r>
              <a:rPr sz="900" b="1" i="0">
                <a:solidFill>
                  <a:srgbClr val="22D3EE"/>
                </a:solidFill>
              </a:rPr>
              <a:t>06 · KUBERNETES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6A0F72-4CB4-4D3B-BB9E-9FD0E0779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1000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550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2550" b="1" i="0">
                <a:solidFill>
                  <a:srgbClr val="F6F7FB"/>
                </a:solidFill>
              </a:defRPr>
            </a:pPr>
            <a:r>
              <a:rPr sz="2550" b="1" i="0">
                <a:solidFill>
                  <a:srgbClr val="F6F7FB"/>
                </a:solidFill>
              </a:rPr>
              <a:t>The Helm release is running—not hypothetical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3675B1-CCBB-453B-87A6-7D38D866A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981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1200" b="0" i="0">
                <a:solidFill>
                  <a:srgbClr val="AAB2CF"/>
                </a:solidFill>
              </a:defRPr>
            </a:pPr>
            <a:r>
              <a:rPr sz="1200" b="0" i="0">
                <a:solidFill>
                  <a:srgbClr val="AAB2CF"/>
                </a:solidFill>
              </a:rPr>
              <a:t>A local kind cluster verifies the chart, services, ingress routing, probes, and multi-replica workloads.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8C2383-C838-4E2A-B105-3CD7FF0C6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381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900" b="1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r">
              <a:defRPr sz="900" b="1" i="0">
                <a:solidFill>
                  <a:srgbClr val="AAB2CF"/>
                </a:solidFill>
              </a:defRPr>
            </a:pPr>
            <a:r>
              <a:rPr sz="900" b="1" i="0">
                <a:solidFill>
                  <a:srgbClr val="AAB2CF"/>
                </a:solidFill>
              </a:rPr>
              <a:t>07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C561B3-A6DA-4526-8468-8807E3809F0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8e4e5b0b554634"/>
          <a:stretch xmlns:a="http://schemas.openxmlformats.org/drawingml/2006/main"/>
        </p:blipFill>
        <p:spPr>
          <a:xfrm xmlns:a="http://schemas.openxmlformats.org/drawingml/2006/main">
            <a:off x="609600" y="1881491"/>
            <a:ext cx="7143750" cy="4142769"/>
          </a:xfrm>
          <a:prstGeom xmlns:a="http://schemas.openxmlformats.org/drawingml/2006/main" prst="roundRect">
            <a:avLst>
              <a:gd name="adj" fmla="val 2667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B5CF23-EDF9-482E-BBC4-392AE0D69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924050"/>
            <a:ext cx="310515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181D34"/>
          </a:solidFill>
          <a:ln xmlns:a="http://schemas.openxmlformats.org/drawingml/2006/main" w="9525">
            <a:solidFill>
              <a:srgbClr val="2D365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C9B2A7-9622-4E6A-99E0-D45D8BAEC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66925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100" b="1" i="0">
                <a:solidFill>
                  <a:srgbClr val="34D399"/>
                </a:solidFill>
              </a:defRPr>
            </a:defPPr>
          </a:lstStyle>
          <a:p xmlns:a="http://schemas.openxmlformats.org/drawingml/2006/main">
            <a:pPr algn="l">
              <a:defRPr sz="2100" b="1" i="0">
                <a:solidFill>
                  <a:srgbClr val="34D399"/>
                </a:solidFill>
              </a:defRPr>
            </a:pPr>
            <a:r>
              <a:rPr sz="2100" b="1" i="0">
                <a:solidFill>
                  <a:srgbClr val="34D399"/>
                </a:solidFill>
              </a:rPr>
              <a:t>2 + 2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7ED8D5-C253-4201-8001-C4EB81973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86025"/>
            <a:ext cx="276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1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AAB2CF"/>
                </a:solidFill>
              </a:defRPr>
            </a:pPr>
            <a:r>
              <a:rPr sz="900" b="1" i="0">
                <a:solidFill>
                  <a:srgbClr val="AAB2CF"/>
                </a:solidFill>
              </a:rPr>
              <a:t>BACKEND + FRONTEND PODS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537513-E6E1-4480-9E2E-3A321C746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248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22D3E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872FDE-4590-4C03-A533-5ABFAC2AD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200400"/>
            <a:ext cx="2838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F6F7FB"/>
                </a:solidFill>
              </a:defRPr>
            </a:pPr>
            <a:r>
              <a:rPr sz="1125" b="1" i="0">
                <a:solidFill>
                  <a:srgbClr val="F6F7FB"/>
                </a:solidFill>
              </a:rPr>
              <a:t>ClusterIP by default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B2923B-2EAA-4FE4-870E-28409BC59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448050"/>
            <a:ext cx="2838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75" b="0" i="0">
                <a:solidFill>
                  <a:srgbClr val="AAB2CF"/>
                </a:solidFill>
              </a:defRPr>
            </a:pPr>
            <a:r>
              <a:rPr sz="975" b="0" i="0">
                <a:solidFill>
                  <a:srgbClr val="AAB2CF"/>
                </a:solidFill>
              </a:rPr>
              <a:t>Frontend, backend, and PostgreSQL stay internal; ingress is the controlled entry point.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2CBAC7-2783-445B-81BB-F4857ECD1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295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solidFill>
              <a:srgbClr val="8B5CF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97EBF7-34C6-4E18-BBEE-8654CDBB7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248150"/>
            <a:ext cx="2838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F6F7FB"/>
                </a:solidFill>
              </a:defRPr>
            </a:pPr>
            <a:r>
              <a:rPr sz="1125" b="1" i="0">
                <a:solidFill>
                  <a:srgbClr val="F6F7FB"/>
                </a:solidFill>
              </a:rPr>
              <a:t>Environment overlays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E15EAA-777B-484A-A67E-CF77A221C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495800"/>
            <a:ext cx="2838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75" b="0" i="0">
                <a:solidFill>
                  <a:srgbClr val="AAB2CF"/>
                </a:solidFill>
              </a:defRPr>
            </a:pPr>
            <a:r>
              <a:rPr sz="975" b="0" i="0">
                <a:solidFill>
                  <a:srgbClr val="AAB2CF"/>
                </a:solidFill>
              </a:rPr>
              <a:t>Base, development, and production values separate resource and scaling choices.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AE6D31-2764-4ACC-AF27-091A96D38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3435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34D39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81C8B2-3A6C-4EC1-8BBF-188852C1E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5295900"/>
            <a:ext cx="2838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F6F7FB"/>
                </a:solidFill>
              </a:defRPr>
            </a:pPr>
            <a:r>
              <a:rPr sz="1125" b="1" i="0">
                <a:solidFill>
                  <a:srgbClr val="F6F7FB"/>
                </a:solidFill>
              </a:rPr>
              <a:t>Operational safeguards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161A574-E28B-4F35-9257-647EE5B25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5543550"/>
            <a:ext cx="2838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75" b="0" i="0">
                <a:solidFill>
                  <a:srgbClr val="AAB2CF"/>
                </a:solidFill>
              </a:defRPr>
            </a:pPr>
            <a:r>
              <a:rPr sz="975" b="0" i="0">
                <a:solidFill>
                  <a:srgbClr val="AAB2CF"/>
                </a:solidFill>
              </a:rPr>
              <a:t>Readiness/liveness probes, resource requests and limits, security contexts, and HPA are templated.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814180A-ED3E-4BA2-B311-3F8916C34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A50C10-396D-45A3-A358-0BB27CEC7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4762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AAB2CF"/>
                </a:solidFill>
              </a:defRPr>
            </a:pPr>
            <a:r>
              <a:rPr sz="675" b="1" i="0">
                <a:solidFill>
                  <a:srgbClr val="AAB2CF"/>
                </a:solidFill>
              </a:rPr>
              <a:t>DEPLOYFLOW · DEVOPS CAPSTONE</a:t>
            </a:r>
          </a:p>
        </p:txBody>
      </p:sp>
    </p:spTree>
    <p:extLst>
      <p:ext uri="{BB962C8B-B14F-4D97-AF65-F5344CB8AC3E}">
        <p14:creationId xmlns:p14="http://schemas.microsoft.com/office/powerpoint/2010/main" val="202669223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80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37A577-6E1E-408C-A1B0-C5BBBF595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04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1" i="0">
                <a:solidFill>
                  <a:srgbClr val="22D3EE"/>
                </a:solidFill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22D3EE"/>
                </a:solidFill>
              </a:defRPr>
            </a:pPr>
            <a:r>
              <a:rPr sz="900" b="1" i="0">
                <a:solidFill>
                  <a:srgbClr val="22D3EE"/>
                </a:solidFill>
              </a:rPr>
              <a:t>07 · OBSERVABILITY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614A4B-BCF6-46DF-AFC4-3D0CCA521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1000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550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2550" b="1" i="0">
                <a:solidFill>
                  <a:srgbClr val="F6F7FB"/>
                </a:solidFill>
              </a:defRPr>
            </a:pPr>
            <a:r>
              <a:rPr sz="2550" b="1" i="0">
                <a:solidFill>
                  <a:srgbClr val="F6F7FB"/>
                </a:solidFill>
              </a:rPr>
              <a:t>Telemetry closes the delivery loop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8D85A7-BA79-4A8F-8E0F-7B914E180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981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1200" b="0" i="0">
                <a:solidFill>
                  <a:srgbClr val="AAB2CF"/>
                </a:solidFill>
              </a:defRPr>
            </a:pPr>
            <a:r>
              <a:rPr sz="1200" b="0" i="0">
                <a:solidFill>
                  <a:srgbClr val="AAB2CF"/>
                </a:solidFill>
              </a:rPr>
              <a:t>ServiceMonitor discovery proves scrape health; a controlled load test produces visible request-rate behavior.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18D2BC-AE8B-4CBC-A428-8BC0D10EE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381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900" b="1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r">
              <a:defRPr sz="900" b="1" i="0">
                <a:solidFill>
                  <a:srgbClr val="AAB2CF"/>
                </a:solidFill>
              </a:defRPr>
            </a:pPr>
            <a:r>
              <a:rPr sz="900" b="1" i="0">
                <a:solidFill>
                  <a:srgbClr val="AAB2CF"/>
                </a:solidFill>
              </a:rPr>
              <a:t>08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D3B2CD-D644-42A9-96DE-C7006F71CF6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e007d438384979"/>
          <a:stretch xmlns:a="http://schemas.openxmlformats.org/drawingml/2006/main"/>
        </p:blipFill>
        <p:spPr>
          <a:xfrm xmlns:a="http://schemas.openxmlformats.org/drawingml/2006/main">
            <a:off x="609600" y="2232400"/>
            <a:ext cx="5095875" cy="2955175"/>
          </a:xfrm>
          <a:prstGeom xmlns:a="http://schemas.openxmlformats.org/drawingml/2006/main" prst="roundRect">
            <a:avLst>
              <a:gd name="adj" fmla="val 3038"/>
            </a:avLst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A6E6FD-1D61-4330-ADD8-7553D72D2FF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4271bba7b647db"/>
          <a:stretch xmlns:a="http://schemas.openxmlformats.org/drawingml/2006/main"/>
        </p:blipFill>
        <p:spPr>
          <a:xfrm xmlns:a="http://schemas.openxmlformats.org/drawingml/2006/main">
            <a:off x="5953125" y="2077737"/>
            <a:ext cx="5629275" cy="3264502"/>
          </a:xfrm>
          <a:prstGeom xmlns:a="http://schemas.openxmlformats.org/drawingml/2006/main" prst="roundRect">
            <a:avLst>
              <a:gd name="adj" fmla="val 3038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6BAB32-A657-4EA1-BD70-40A3D0072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10250"/>
            <a:ext cx="1714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>
              <a:alpha val="13333"/>
            </a:srgbClr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6E1FC9-9BF3-482C-B18D-A7D5F0DB7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876925"/>
            <a:ext cx="152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900" b="1" i="0">
                <a:solidFill>
                  <a:srgbClr val="34D399"/>
                </a:solidFill>
              </a:defRPr>
            </a:defPPr>
          </a:lstStyle>
          <a:p xmlns:a="http://schemas.openxmlformats.org/drawingml/2006/main">
            <a:pPr algn="ctr">
              <a:defRPr sz="900" b="1" i="0">
                <a:solidFill>
                  <a:srgbClr val="34D399"/>
                </a:solidFill>
              </a:defRPr>
            </a:pPr>
            <a:r>
              <a:rPr sz="900" b="1" i="0">
                <a:solidFill>
                  <a:srgbClr val="34D399"/>
                </a:solidFill>
              </a:rPr>
              <a:t>2 / 2 TARGETS UP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555181-E1AA-4358-8754-1027A358C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5819775"/>
            <a:ext cx="3000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75" b="0" i="0">
                <a:solidFill>
                  <a:srgbClr val="AAB2CF"/>
                </a:solidFill>
              </a:defRPr>
            </a:pPr>
            <a:r>
              <a:rPr sz="975" b="0" i="0">
                <a:solidFill>
                  <a:srgbClr val="AAB2CF"/>
                </a:solidFill>
              </a:rPr>
              <a:t>Prometheus discovers both API replicas through the chart’s ServiceMonitor.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CF3688-2C4A-4DAE-999E-948C1CB13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810250"/>
            <a:ext cx="1571625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D3EE">
              <a:alpha val="13333"/>
            </a:srgbClr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00470E-0B78-45A5-97BD-A3E04933F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5876925"/>
            <a:ext cx="1381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900" b="1" i="0">
                <a:solidFill>
                  <a:srgbClr val="22D3EE"/>
                </a:solidFill>
              </a:defRPr>
            </a:defPPr>
          </a:lstStyle>
          <a:p xmlns:a="http://schemas.openxmlformats.org/drawingml/2006/main">
            <a:pPr algn="ctr">
              <a:defRPr sz="900" b="1" i="0">
                <a:solidFill>
                  <a:srgbClr val="22D3EE"/>
                </a:solidFill>
              </a:defRPr>
            </a:pPr>
            <a:r>
              <a:rPr sz="900" b="1" i="0">
                <a:solidFill>
                  <a:srgbClr val="22D3EE"/>
                </a:solidFill>
              </a:rPr>
              <a:t>604 REQUESTS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38C462-5194-4922-A45B-B202CCED1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5819775"/>
            <a:ext cx="3619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75" b="0" i="0">
                <a:solidFill>
                  <a:srgbClr val="AAB2CF"/>
                </a:solidFill>
              </a:defRPr>
            </a:pPr>
            <a:r>
              <a:rPr sz="975" b="0" i="0">
                <a:solidFill>
                  <a:srgbClr val="AAB2CF"/>
                </a:solidFill>
              </a:rPr>
              <a:t>Grafana captured the generated traffic spike and 15-minute request count.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A789D7-7765-4D39-997C-F3528F5B1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E689A8-4401-40A8-88E2-05FBDA978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4762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AAB2CF"/>
                </a:solidFill>
              </a:defRPr>
            </a:pPr>
            <a:r>
              <a:rPr sz="675" b="1" i="0">
                <a:solidFill>
                  <a:srgbClr val="AAB2CF"/>
                </a:solidFill>
              </a:rPr>
              <a:t>DEPLOYFLOW · DEVOPS CAPSTONE</a:t>
            </a:r>
          </a:p>
        </p:txBody>
      </p:sp>
    </p:spTree>
    <p:extLst>
      <p:ext uri="{BB962C8B-B14F-4D97-AF65-F5344CB8AC3E}">
        <p14:creationId xmlns:p14="http://schemas.microsoft.com/office/powerpoint/2010/main" val="24476061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80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0427AC8-80F8-4540-A180-591CF3FF4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04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1" i="0">
                <a:solidFill>
                  <a:srgbClr val="22D3EE"/>
                </a:solidFill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22D3EE"/>
                </a:solidFill>
              </a:defRPr>
            </a:pPr>
            <a:r>
              <a:rPr sz="900" b="1" i="0">
                <a:solidFill>
                  <a:srgbClr val="22D3EE"/>
                </a:solidFill>
              </a:rPr>
              <a:t>08 · HANDOFF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38E923-EE92-4D78-B3CD-DA8FCA671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1000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550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2550" b="1" i="0">
                <a:solidFill>
                  <a:srgbClr val="F6F7FB"/>
                </a:solidFill>
              </a:defRPr>
            </a:pPr>
            <a:r>
              <a:rPr sz="2550" b="1" i="0">
                <a:solidFill>
                  <a:srgbClr val="F6F7FB"/>
                </a:solidFill>
              </a:rPr>
              <a:t>Submission-ready locally; two external proofs remain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154A13-2A94-429C-8C7E-00446959C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981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1200" b="0" i="0">
                <a:solidFill>
                  <a:srgbClr val="AAB2CF"/>
                </a:solidFill>
              </a:defRPr>
            </a:pPr>
            <a:r>
              <a:rPr sz="1200" b="0" i="0">
                <a:solidFill>
                  <a:srgbClr val="AAB2CF"/>
                </a:solidFill>
              </a:rPr>
              <a:t>Everything that can be verified without account authority is implemented, running, and evidenced.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205575-29B1-4B74-BCC5-647BB6957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381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900" b="1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r">
              <a:defRPr sz="900" b="1" i="0">
                <a:solidFill>
                  <a:srgbClr val="AAB2CF"/>
                </a:solidFill>
              </a:defRPr>
            </a:pPr>
            <a:r>
              <a:rPr sz="900" b="1" i="0">
                <a:solidFill>
                  <a:srgbClr val="AAB2CF"/>
                </a:solidFill>
              </a:rP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D3A004-9F1C-49AB-99FF-4E72ACCAF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5010150" cy="3876675"/>
          </a:xfrm>
          <a:prstGeom xmlns:a="http://schemas.openxmlformats.org/drawingml/2006/main" prst="roundRect">
            <a:avLst>
              <a:gd name="adj" fmla="val 3931"/>
            </a:avLst>
          </a:prstGeom>
          <a:solidFill xmlns:a="http://schemas.openxmlformats.org/drawingml/2006/main">
            <a:srgbClr val="12172A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255F48-BC61-4E1B-A3CA-C31599803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955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800" b="1" i="0">
                <a:solidFill>
                  <a:srgbClr val="34D399"/>
                </a:solidFill>
              </a:defRPr>
            </a:defPPr>
          </a:lstStyle>
          <a:p xmlns:a="http://schemas.openxmlformats.org/drawingml/2006/main">
            <a:pPr algn="l">
              <a:defRPr sz="1800" b="1" i="0">
                <a:solidFill>
                  <a:srgbClr val="34D399"/>
                </a:solidFill>
              </a:defRPr>
            </a:pPr>
            <a:r>
              <a:rPr sz="1800" b="1" i="0">
                <a:solidFill>
                  <a:srgbClr val="34D399"/>
                </a:solidFill>
              </a:rPr>
              <a:t>Verified now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BFD337-A80F-4087-8437-47D8599FD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795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34D399"/>
                </a:solidFill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34D399"/>
                </a:solidFill>
              </a:defRPr>
            </a:pPr>
            <a:r>
              <a:rPr sz="1125" b="1" i="0">
                <a:solidFill>
                  <a:srgbClr val="34D399"/>
                </a:solidFill>
              </a:rPr>
              <a:t>✓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5078D8-FEE8-41F9-AAC6-A1177236A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64795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050" b="0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050" b="0" i="0">
                <a:solidFill>
                  <a:srgbClr val="F6F7FB"/>
                </a:solidFill>
              </a:defRPr>
            </a:pPr>
            <a:r>
              <a:rPr sz="1050" b="0" i="0">
                <a:solidFill>
                  <a:srgbClr val="F6F7FB"/>
                </a:solidFill>
              </a:rPr>
              <a:t>9 backend tests + Ruff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4E0B99-1AFA-456E-B48A-7A5757C2F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480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34D399"/>
                </a:solidFill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34D399"/>
                </a:solidFill>
              </a:defRPr>
            </a:pPr>
            <a:r>
              <a:rPr sz="1125" b="1" i="0">
                <a:solidFill>
                  <a:srgbClr val="34D399"/>
                </a:solidFill>
              </a:rPr>
              <a:t>✓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FB6AD9-1B91-4DBC-8F56-1C30BF6AB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050" b="0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050" b="0" i="0">
                <a:solidFill>
                  <a:srgbClr val="F6F7FB"/>
                </a:solidFill>
              </a:defRPr>
            </a:pPr>
            <a:r>
              <a:rPr sz="1050" b="0" i="0">
                <a:solidFill>
                  <a:srgbClr val="F6F7FB"/>
                </a:solidFill>
              </a:rPr>
              <a:t>Frontend build + npm audit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19D541-17C2-4922-B9AA-FB1B4A331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4805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34D399"/>
                </a:solidFill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34D399"/>
                </a:solidFill>
              </a:defRPr>
            </a:pPr>
            <a:r>
              <a:rPr sz="1125" b="1" i="0">
                <a:solidFill>
                  <a:srgbClr val="34D399"/>
                </a:solidFill>
              </a:rPr>
              <a:t>✓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570AD4-F4FE-4093-B987-26DD668E6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44805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050" b="0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050" b="0" i="0">
                <a:solidFill>
                  <a:srgbClr val="F6F7FB"/>
                </a:solidFill>
              </a:defRPr>
            </a:pPr>
            <a:r>
              <a:rPr sz="1050" b="0" i="0">
                <a:solidFill>
                  <a:srgbClr val="F6F7FB"/>
                </a:solidFill>
              </a:rPr>
              <a:t>Hardened Docker Compose stack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8149F4-EBA2-4C23-9C6E-8D40D0CE6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481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34D399"/>
                </a:solidFill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34D399"/>
                </a:solidFill>
              </a:defRPr>
            </a:pPr>
            <a:r>
              <a:rPr sz="1125" b="1" i="0">
                <a:solidFill>
                  <a:srgbClr val="34D399"/>
                </a:solidFill>
              </a:rPr>
              <a:t>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92123B-EF4E-492E-9DCC-80CD87F5E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84810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050" b="0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050" b="0" i="0">
                <a:solidFill>
                  <a:srgbClr val="F6F7FB"/>
                </a:solidFill>
              </a:defRPr>
            </a:pPr>
            <a:r>
              <a:rPr sz="1050" b="0" i="0">
                <a:solidFill>
                  <a:srgbClr val="F6F7FB"/>
                </a:solidFill>
              </a:rPr>
              <a:t>Helm lint + live kind deployment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5CE500-6C67-45C8-8193-668711A21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4815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34D399"/>
                </a:solidFill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34D399"/>
                </a:solidFill>
              </a:defRPr>
            </a:pPr>
            <a:r>
              <a:rPr sz="1125" b="1" i="0">
                <a:solidFill>
                  <a:srgbClr val="34D399"/>
                </a:solidFill>
              </a:rPr>
              <a:t>✓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D03BAE-6E9A-4155-BE61-0B396E525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24815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050" b="0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050" b="0" i="0">
                <a:solidFill>
                  <a:srgbClr val="F6F7FB"/>
                </a:solidFill>
              </a:defRPr>
            </a:pPr>
            <a:r>
              <a:rPr sz="1050" b="0" i="0">
                <a:solidFill>
                  <a:srgbClr val="F6F7FB"/>
                </a:solidFill>
              </a:rPr>
              <a:t>Prometheus targets + Grafana load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8CC1EBB-DDB0-4F1F-B1EB-6D6F11F11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482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34D399"/>
                </a:solidFill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34D399"/>
                </a:solidFill>
              </a:defRPr>
            </a:pPr>
            <a:r>
              <a:rPr sz="1125" b="1" i="0">
                <a:solidFill>
                  <a:srgbClr val="34D399"/>
                </a:solidFill>
              </a:rPr>
              <a:t>✓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CD5A37-EF65-4EC0-A6E7-6A4351784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4820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050" b="0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050" b="0" i="0">
                <a:solidFill>
                  <a:srgbClr val="F6F7FB"/>
                </a:solidFill>
              </a:defRPr>
            </a:pPr>
            <a:r>
              <a:rPr sz="1050" b="0" i="0">
                <a:solidFill>
                  <a:srgbClr val="F6F7FB"/>
                </a:solidFill>
              </a:rPr>
              <a:t>Terraform init + validate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AD6CFD-896C-478C-AD09-E5EB31D55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4825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34D399"/>
                </a:solidFill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34D399"/>
                </a:solidFill>
              </a:defRPr>
            </a:pPr>
            <a:r>
              <a:rPr sz="1125" b="1" i="0">
                <a:solidFill>
                  <a:srgbClr val="34D399"/>
                </a:solidFill>
              </a:rPr>
              <a:t>✓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02FF723-4184-4793-AA86-303904FCF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04825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050" b="0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050" b="0" i="0">
                <a:solidFill>
                  <a:srgbClr val="F6F7FB"/>
                </a:solidFill>
              </a:defRPr>
            </a:pPr>
            <a:r>
              <a:rPr sz="1050" b="0" i="0">
                <a:solidFill>
                  <a:srgbClr val="F6F7FB"/>
                </a:solidFill>
              </a:rPr>
              <a:t>Real screenshots + operator runbook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3826BB-D764-4CA9-9545-4D4FA0076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809750"/>
            <a:ext cx="5619750" cy="3876675"/>
          </a:xfrm>
          <a:prstGeom xmlns:a="http://schemas.openxmlformats.org/drawingml/2006/main" prst="roundRect">
            <a:avLst>
              <a:gd name="adj" fmla="val 3931"/>
            </a:avLst>
          </a:prstGeom>
          <a:solidFill xmlns:a="http://schemas.openxmlformats.org/drawingml/2006/main">
            <a:srgbClr val="12172A"/>
          </a:solidFill>
          <a:ln xmlns:a="http://schemas.openxmlformats.org/drawingml/2006/main" w="9525">
            <a:solidFill>
              <a:srgbClr val="FBBF2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117349E-9F40-4E64-8D3F-99A4EF468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0955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800" b="1" i="0">
                <a:solidFill>
                  <a:srgbClr val="FBBF24"/>
                </a:solidFill>
              </a:defRPr>
            </a:defPPr>
          </a:lstStyle>
          <a:p xmlns:a="http://schemas.openxmlformats.org/drawingml/2006/main">
            <a:pPr algn="l">
              <a:defRPr sz="1800" b="1" i="0">
                <a:solidFill>
                  <a:srgbClr val="FBBF24"/>
                </a:solidFill>
              </a:defRPr>
            </a:pPr>
            <a:r>
              <a:rPr sz="1800" b="1" i="0">
                <a:solidFill>
                  <a:srgbClr val="FBBF24"/>
                </a:solidFill>
              </a:rPr>
              <a:t>Complete with account access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88E4BD-FA8F-47BF-8E38-CC1EC5789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809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solidFill>
              <a:srgbClr val="FBBF2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0301D5A-C53A-4005-9617-0F3FE8CF6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762250"/>
            <a:ext cx="46005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F6F7FB"/>
                </a:solidFill>
              </a:defRPr>
            </a:pPr>
            <a:r>
              <a:rPr sz="1125" b="1" i="0">
                <a:solidFill>
                  <a:srgbClr val="F6F7FB"/>
                </a:solidFill>
              </a:rPr>
              <a:t>Push to your GitHub repository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5864B3B-F61E-40AC-B17D-88290DB40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009900"/>
            <a:ext cx="46005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75" b="0" i="0">
                <a:solidFill>
                  <a:srgbClr val="AAB2CF"/>
                </a:solidFill>
              </a:defRPr>
            </a:pPr>
            <a:r>
              <a:rPr sz="975" b="0" i="0">
                <a:solidFill>
                  <a:srgbClr val="AAB2CF"/>
                </a:solidFill>
              </a:rPr>
              <a:t>This unlocks commit-history, Actions-run, and GHCR screenshot evidence under your identity.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4323A9E-1D7C-487A-9378-DE669083D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905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solidFill>
              <a:srgbClr val="FBBF2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9D19629-5EBB-47C2-BFE0-F94767523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857625"/>
            <a:ext cx="46005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F6F7FB"/>
                </a:solidFill>
              </a:defRPr>
            </a:pPr>
            <a:r>
              <a:rPr sz="1125" b="1" i="0">
                <a:solidFill>
                  <a:srgbClr val="F6F7FB"/>
                </a:solidFill>
              </a:rPr>
              <a:t>Refresh AWS credentials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FFF3F59-B366-42B5-B1A0-FD568A67C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105275"/>
            <a:ext cx="46005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75" b="0" i="0">
                <a:solidFill>
                  <a:srgbClr val="AAB2CF"/>
                </a:solidFill>
              </a:defRPr>
            </a:pPr>
            <a:r>
              <a:rPr sz="975" b="0" i="0">
                <a:solidFill>
                  <a:srgbClr val="AAB2CF"/>
                </a:solidFill>
              </a:rPr>
              <a:t>Run terraform plan/apply, capture EKS/nodes/load balancer proof, then destroy to avoid charges.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45594DD-F131-456E-B120-8019F6637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00075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1" i="0">
                <a:solidFill>
                  <a:srgbClr val="22D3EE"/>
                </a:solidFill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22D3EE"/>
                </a:solidFill>
              </a:defRPr>
            </a:pPr>
            <a:r>
              <a:rPr sz="975" b="1" i="0">
                <a:solidFill>
                  <a:srgbClr val="22D3EE"/>
                </a:solidFill>
              </a:rPr>
              <a:t>Recommended demo path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42BE3B6-1730-442D-9D12-94B117590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981700"/>
            <a:ext cx="7715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F6F7FB"/>
                </a:solidFill>
              </a:defRPr>
            </a:pPr>
            <a:r>
              <a:rPr sz="1200" b="1" i="0">
                <a:solidFill>
                  <a:srgbClr val="F6F7FB"/>
                </a:solidFill>
              </a:rPr>
              <a:t>Create release → update status → call API → generate load → watch Grafana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F9306D8-BF5F-4D8E-B402-54E9DDA78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B9124BC-F899-49E4-9212-CF03A4030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4762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AAB2CF"/>
                </a:solidFill>
              </a:defRPr>
            </a:pPr>
            <a:r>
              <a:rPr sz="675" b="1" i="0">
                <a:solidFill>
                  <a:srgbClr val="AAB2CF"/>
                </a:solidFill>
              </a:rPr>
              <a:t>DEPLOYFLOW · READY FOR FINAL ACCOUNT-BOUND EVIDENCE</a:t>
            </a:r>
          </a:p>
        </p:txBody>
      </p:sp>
    </p:spTree>
    <p:extLst>
      <p:ext uri="{BB962C8B-B14F-4D97-AF65-F5344CB8AC3E}">
        <p14:creationId xmlns:p14="http://schemas.microsoft.com/office/powerpoint/2010/main" val="8174063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2026-10-16T11:49:50.2510000Z</dcterms:created>
  <dcterms:modified xsi:type="dcterms:W3CDTF">2026-10-16T11:49:50.2510000Z</dcterms:modified>
</coreProperties>
</file>
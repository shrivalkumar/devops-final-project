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753ea51fe4774" /><Relationship Type="http://schemas.openxmlformats.org/officeDocument/2006/relationships/extended-properties" Target="/docProps/app.xml" Id="R4e6a9e8545da4ace" /><Relationship Type="http://schemas.openxmlformats.org/officeDocument/2006/relationships/officeDocument" Target="/ppt/presentation.xml" Id="Rdb329e5e68a14b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a4fb4169d4815"/>
  </p:sldMasterIdLst>
  <p:notesMasterIdLst>
    <p:notesMasterId xmlns:r="http://schemas.openxmlformats.org/officeDocument/2006/relationships" r:id="R1f590a92634742d2"/>
  </p:notesMasterIdLst>
  <p:sldIdLst>
    <p:sldId xmlns:r="http://schemas.openxmlformats.org/officeDocument/2006/relationships" id="256" r:id="Re0fd194ab820457f"/>
    <p:sldId xmlns:r="http://schemas.openxmlformats.org/officeDocument/2006/relationships" id="257" r:id="Rced6df44b2fc42ef"/>
    <p:sldId xmlns:r="http://schemas.openxmlformats.org/officeDocument/2006/relationships" id="258" r:id="R7947555ca2d34cab"/>
    <p:sldId xmlns:r="http://schemas.openxmlformats.org/officeDocument/2006/relationships" id="259" r:id="Rb38a26e2d91b4bd4"/>
    <p:sldId xmlns:r="http://schemas.openxmlformats.org/officeDocument/2006/relationships" id="260" r:id="R188c668ccd5b4ff3"/>
    <p:sldId xmlns:r="http://schemas.openxmlformats.org/officeDocument/2006/relationships" id="261" r:id="Rde1f9f746b644583"/>
    <p:sldId xmlns:r="http://schemas.openxmlformats.org/officeDocument/2006/relationships" id="262" r:id="R91cd0886706a42a4"/>
    <p:sldId xmlns:r="http://schemas.openxmlformats.org/officeDocument/2006/relationships" id="263" r:id="Ra10b4fcccd084bb5"/>
    <p:sldId xmlns:r="http://schemas.openxmlformats.org/officeDocument/2006/relationships" id="264" r:id="Rbd7b618534d140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0d74cbc40465b" /><Relationship Type="http://schemas.openxmlformats.org/officeDocument/2006/relationships/slideMaster" Target="/ppt/slideMasters/slideMaster1.xml" Id="R799a4fb4169d4815" /><Relationship Type="http://schemas.openxmlformats.org/officeDocument/2006/relationships/notesMaster" Target="/ppt/notesMasters/notesMaster1.xml" Id="R1f590a92634742d2" /><Relationship Type="http://schemas.openxmlformats.org/officeDocument/2006/relationships/presProps" Target="/ppt/presProps.xml" Id="R7dfb8f6a76694160" /><Relationship Type="http://schemas.openxmlformats.org/officeDocument/2006/relationships/tableStyles" Target="/ppt/tableStyles.xml" Id="R010f71af666a4b90" /><Relationship Type="http://schemas.openxmlformats.org/officeDocument/2006/relationships/slide" Target="/ppt/slides/slide1.xml" Id="Re0fd194ab820457f" /><Relationship Type="http://schemas.openxmlformats.org/officeDocument/2006/relationships/slide" Target="/ppt/slides/slide2.xml" Id="Rced6df44b2fc42ef" /><Relationship Type="http://schemas.openxmlformats.org/officeDocument/2006/relationships/slide" Target="/ppt/slides/slide3.xml" Id="R7947555ca2d34cab" /><Relationship Type="http://schemas.openxmlformats.org/officeDocument/2006/relationships/slide" Target="/ppt/slides/slide4.xml" Id="Rb38a26e2d91b4bd4" /><Relationship Type="http://schemas.openxmlformats.org/officeDocument/2006/relationships/slide" Target="/ppt/slides/slide5.xml" Id="R188c668ccd5b4ff3" /><Relationship Type="http://schemas.openxmlformats.org/officeDocument/2006/relationships/slide" Target="/ppt/slides/slide6.xml" Id="Rde1f9f746b644583" /><Relationship Type="http://schemas.openxmlformats.org/officeDocument/2006/relationships/slide" Target="/ppt/slides/slide7.xml" Id="R91cd0886706a42a4" /><Relationship Type="http://schemas.openxmlformats.org/officeDocument/2006/relationships/slide" Target="/ppt/slides/slide8.xml" Id="Ra10b4fcccd084bb5" /><Relationship Type="http://schemas.openxmlformats.org/officeDocument/2006/relationships/slide" Target="/ppt/slides/slide9.xml" Id="Rbd7b618534d140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1fb326eea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7f51201a14be8" /><Relationship Type="http://schemas.openxmlformats.org/officeDocument/2006/relationships/notesMaster" Target="/ppt/notesMasters/notesMaster1.xml" Id="R3974c1b9823e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6478670764a3c" /><Relationship Type="http://schemas.openxmlformats.org/officeDocument/2006/relationships/notesMaster" Target="/ppt/notesMasters/notesMaster1.xml" Id="Rf88061de832b4d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125e5667548a0" /><Relationship Type="http://schemas.openxmlformats.org/officeDocument/2006/relationships/notesMaster" Target="/ppt/notesMasters/notesMaster1.xml" Id="Re15e9d28dca941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71bed0cc54734" /><Relationship Type="http://schemas.openxmlformats.org/officeDocument/2006/relationships/notesMaster" Target="/ppt/notesMasters/notesMaster1.xml" Id="R3909aa10fd0e4e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a77b5f6a5a49d9" /><Relationship Type="http://schemas.openxmlformats.org/officeDocument/2006/relationships/notesMaster" Target="/ppt/notesMasters/notesMaster1.xml" Id="R64b9a4fa5b57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6951623824790" /><Relationship Type="http://schemas.openxmlformats.org/officeDocument/2006/relationships/notesMaster" Target="/ppt/notesMasters/notesMaster1.xml" Id="Ra5735242ad77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9c291cfb924b1b" /><Relationship Type="http://schemas.openxmlformats.org/officeDocument/2006/relationships/notesMaster" Target="/ppt/notesMasters/notesMaster1.xml" Id="R09badb608b80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3d65653504143" /><Relationship Type="http://schemas.openxmlformats.org/officeDocument/2006/relationships/notesMaster" Target="/ppt/notesMasters/notesMaster1.xml" Id="Reae1a38c5d7546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cbe2f97b5842b5" /><Relationship Type="http://schemas.openxmlformats.org/officeDocument/2006/relationships/notesMaster" Target="/ppt/notesMasters/notesMaster1.xml" Id="R6b92de9096e6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product: DeployFlow gives a team one place to plan, promote, and observe service releases.</a:t>
            </a:r>
          </a:p>
          <a:p xmlns:a="http://schemas.openxmlformats.org/drawingml/2006/main">
            <a:r>
              <a:t>Explain that every screenshot in this deck was captured from the working local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creating a deployment, then update its status.</a:t>
            </a:r>
          </a:p>
          <a:p xmlns:a="http://schemas.openxmlformats.org/drawingml/2006/main">
            <a:r>
              <a:t>The domain and interface were redesigned from the starter material to avoid a copy-only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interface, API, database, container build, CI, cluster release, monitoring.</a:t>
            </a:r>
          </a:p>
          <a:p xmlns:a="http://schemas.openxmlformats.org/drawingml/2006/main">
            <a:r>
              <a:t>All runtime layers are represented by checked-in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pytest -v during the live demo if time allows.</a:t>
            </a:r>
          </a:p>
          <a:p xmlns:a="http://schemas.openxmlformats.org/drawingml/2006/main">
            <a:r>
              <a:t>Point out the /health, /ready, and /metrics endpoints that support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actual successful GitHub Actions run for the pushed main branch.</a:t>
            </a:r>
          </a:p>
          <a:p xmlns:a="http://schemas.openxmlformats.org/drawingml/2006/main">
            <a:r>
              <a:t>The containers run as non-root users and expose explicit health checks.</a:t>
            </a:r>
          </a:p>
          <a:p xmlns:a="http://schemas.openxmlformats.org/drawingml/2006/main">
            <a:r>
              <a:t>The Trivy action is pinned to an immutable action commit and fails on HIGH or CRITICAL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actual AWS Console screenshot from ap-south-1.</a:t>
            </a:r>
          </a:p>
          <a:p xmlns:a="http://schemas.openxmlformats.org/drawingml/2006/main">
            <a:r>
              <a:t>Terraform planned 56 resources and applied the VPC, EKS control plane, and two-node managed group.</a:t>
            </a:r>
          </a:p>
          <a:p xmlns:a="http://schemas.openxmlformats.org/drawingml/2006/main">
            <a:r>
              <a:t>The complete destroy was captured after the live demonstration to prevent ongoing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is the application running behind the EKS ingress controller.</a:t>
            </a:r>
          </a:p>
          <a:p xmlns:a="http://schemas.openxmlformats.org/drawingml/2006/main">
            <a:r>
              <a:t>The terminal evidence shows both frontend and backend replicas distributed across the two workers.</a:t>
            </a:r>
          </a:p>
          <a:p xmlns:a="http://schemas.openxmlformats.org/drawingml/2006/main">
            <a:r>
              <a:t>The same chart was also validated locally on kind.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actual screenshots from the running local monitoring stack.</a:t>
            </a:r>
          </a:p>
          <a:p xmlns:a="http://schemas.openxmlformats.org/drawingml/2006/main">
            <a:r>
              <a:t>The load generator issues repeat API requests so the graph has a clear, verifiable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 path.</a:t>
            </a:r>
          </a:p>
          <a:p xmlns:a="http://schemas.openxmlformats.org/drawingml/2006/main">
            <a:r>
              <a:t>The GHCR backend package shown here is public and tagged with the immutable workflow commit SHA.</a:t>
            </a:r>
          </a:p>
          <a:p xmlns:a="http://schemas.openxmlformats.org/drawingml/2006/main">
            <a:r>
              <a:t>AWS plan, apply, EKS runtime, and destroy are also evidenced.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d03e8f1e54f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823d6d9104d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4283bf8ad40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ac5de0e984a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fec78ac0141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e3c28c1664c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CB51C2-EB1A-4DA0-9424-733FD35D2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FC0971-39F4-4157-AB51-08083A0EDF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C27737-0CFF-4157-89BB-02338D5FF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B34575-10EC-4684-902F-638C0C36F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FD056F-5BF3-4732-9E4F-9075E30C9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DF734A-7913-43C0-840D-BFBFEF2FD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C27B94-5501-42B4-8AA7-DF55664AED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2CB43D-C4BD-40EF-BB31-02DAC30331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D64D96-C4CD-4BBF-B906-889654392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226916-4B5D-4913-BA3B-C9CA1DC8AC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cda95443440c7" /><Relationship Type="http://schemas.openxmlformats.org/officeDocument/2006/relationships/slideLayout" Target="/ppt/slideLayouts/slideLayout1.xml" Id="Rb19dc9a0a6274100" /><Relationship Type="http://schemas.openxmlformats.org/officeDocument/2006/relationships/slideLayout" Target="/ppt/slideLayouts/slideLayout2.xml" Id="Rff19235d5dcb4603" /><Relationship Type="http://schemas.openxmlformats.org/officeDocument/2006/relationships/slideLayout" Target="/ppt/slideLayouts/slideLayout3.xml" Id="R6c5f14331e42434f" /><Relationship Type="http://schemas.openxmlformats.org/officeDocument/2006/relationships/slideLayout" Target="/ppt/slideLayouts/slideLayout4.xml" Id="R40e78c7fb4604e15" /><Relationship Type="http://schemas.openxmlformats.org/officeDocument/2006/relationships/slideLayout" Target="/ppt/slideLayouts/slideLayout5.xml" Id="R01acdbe557764122" /><Relationship Type="http://schemas.openxmlformats.org/officeDocument/2006/relationships/slideLayout" Target="/ppt/slideLayouts/slideLayout6.xml" Id="R9aa9af2628c7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9dc9a0a6274100"/>
    <p:sldLayoutId xmlns:r="http://schemas.openxmlformats.org/officeDocument/2006/relationships" id="2147483650" r:id="Rff19235d5dcb4603"/>
    <p:sldLayoutId xmlns:r="http://schemas.openxmlformats.org/officeDocument/2006/relationships" id="2147483651" r:id="R6c5f14331e42434f"/>
    <p:sldLayoutId xmlns:r="http://schemas.openxmlformats.org/officeDocument/2006/relationships" id="2147483652" r:id="R40e78c7fb4604e15"/>
    <p:sldLayoutId xmlns:r="http://schemas.openxmlformats.org/officeDocument/2006/relationships" id="2147483653" r:id="R01acdbe557764122"/>
    <p:sldLayoutId xmlns:r="http://schemas.openxmlformats.org/officeDocument/2006/relationships" id="2147483654" r:id="R9aa9af2628c7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de219895d4a5f" /><Relationship Type="http://schemas.openxmlformats.org/officeDocument/2006/relationships/image" Target="/ppt/media/image.jpeg" Id="R4d1717e2971c4270" /><Relationship Type="http://schemas.openxmlformats.org/officeDocument/2006/relationships/notesSlide" Target="/ppt/notesSlides/notesSlide1.xml" Id="R9466ed5bd91d4c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e12c2b8964cfe" /><Relationship Type="http://schemas.openxmlformats.org/officeDocument/2006/relationships/image" Target="/ppt/media/image2.jpeg" Id="R58be146137a9444d" /><Relationship Type="http://schemas.openxmlformats.org/officeDocument/2006/relationships/notesSlide" Target="/ppt/notesSlides/notesSlide2.xml" Id="R7344b0cfba12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bb168d9214c1f" /><Relationship Type="http://schemas.openxmlformats.org/officeDocument/2006/relationships/notesSlide" Target="/ppt/notesSlides/notesSlide3.xml" Id="R9ed4fee67fec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2a07933a5494f" /><Relationship Type="http://schemas.openxmlformats.org/officeDocument/2006/relationships/image" Target="/ppt/media/image3.jpeg" Id="Rf0817301774b4c1a" /><Relationship Type="http://schemas.openxmlformats.org/officeDocument/2006/relationships/notesSlide" Target="/ppt/notesSlides/notesSlide4.xml" Id="Rffb50de2dd1243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c9a39267846c0" /><Relationship Type="http://schemas.openxmlformats.org/officeDocument/2006/relationships/image" Target="/ppt/media/image4.jpeg" Id="R66656d8141a04bc7" /><Relationship Type="http://schemas.openxmlformats.org/officeDocument/2006/relationships/notesSlide" Target="/ppt/notesSlides/notesSlide5.xml" Id="R31637e84b8b3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3694032f440f" /><Relationship Type="http://schemas.openxmlformats.org/officeDocument/2006/relationships/image" Target="/ppt/media/image5.jpeg" Id="R8c9d5ab4218a4c76" /><Relationship Type="http://schemas.openxmlformats.org/officeDocument/2006/relationships/notesSlide" Target="/ppt/notesSlides/notesSlide6.xml" Id="Rb15525f2e3cb45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d9e1b237442c6" /><Relationship Type="http://schemas.openxmlformats.org/officeDocument/2006/relationships/image" Target="/ppt/media/image6.jpeg" Id="R172f267815964e33" /><Relationship Type="http://schemas.openxmlformats.org/officeDocument/2006/relationships/notesSlide" Target="/ppt/notesSlides/notesSlide7.xml" Id="Rbb17d420a63c4d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7bbf7b35c4ee9" /><Relationship Type="http://schemas.openxmlformats.org/officeDocument/2006/relationships/image" Target="/ppt/media/image7.jpeg" Id="Rae16649e113749eb" /><Relationship Type="http://schemas.openxmlformats.org/officeDocument/2006/relationships/image" Target="/ppt/media/image8.jpeg" Id="R28f415ebdc8c47bf" /><Relationship Type="http://schemas.openxmlformats.org/officeDocument/2006/relationships/notesSlide" Target="/ppt/notesSlides/notesSlide8.xml" Id="R8e0817c7977149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21bec8fdf47bc" /><Relationship Type="http://schemas.openxmlformats.org/officeDocument/2006/relationships/image" Target="/ppt/media/image9.jpeg" Id="Rece4105badb643b9" /><Relationship Type="http://schemas.openxmlformats.org/officeDocument/2006/relationships/notesSlide" Target="/ppt/notesSlides/notesSlide9.xml" Id="R8db72dc35162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5DAB7-C2FA-469F-8BA4-94EBF9A2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DEVOPS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5C362-9148-4A02-BD44-C63C1B4E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4350" b="1" i="0">
                <a:solidFill>
                  <a:srgbClr val="F6F7FB"/>
                </a:solidFill>
              </a:defRPr>
            </a:pPr>
            <a:r>
              <a:rPr sz="4350" b="1" i="0">
                <a:solidFill>
                  <a:srgbClr val="F6F7FB"/>
                </a:solidFill>
              </a:rPr>
              <a:t>DeployFlow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CA8E5-8130-4390-B32B-94A02F99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AAB2CF"/>
                </a:solidFill>
              </a:defRPr>
            </a:pPr>
            <a:r>
              <a:rPr sz="1800" b="0" i="0">
                <a:solidFill>
                  <a:srgbClr val="AAB2CF"/>
                </a:solidFill>
              </a:rPr>
              <a:t>Release operations—from commit to live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E7280-AAA1-4BB3-8F70-715B606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E3E11-49B3-4531-BFE9-A67BD90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FASTAPI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73F86-054A-47C0-8DFC-66CFA066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76600"/>
            <a:ext cx="895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1FC7D-751A-4EAD-9DCD-76B4A6A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432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BEC11-68F6-4FD9-A216-60DCC48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A5315-C447-4BDF-8C04-F6E280F7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432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8B5CF6"/>
                </a:solidFill>
              </a:defRPr>
            </a:pPr>
            <a:r>
              <a:rPr sz="900" b="1" i="0">
                <a:solidFill>
                  <a:srgbClr val="8B5CF6"/>
                </a:solidFill>
              </a:rPr>
              <a:t>KUBERNETES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F967D-9F3B-4494-94B5-3B75D99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6F7FB"/>
                </a:solidFill>
              </a:defRPr>
            </a:pPr>
            <a:r>
              <a:rPr sz="1350" b="0" i="0">
                <a:solidFill>
                  <a:srgbClr val="F6F7FB"/>
                </a:solidFill>
              </a:rPr>
              <a:t>A production-minded delivery system with container security, Infrastructure as Code, Helm deployment, and observable runtime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DAD65-C0D5-4507-9D3E-B6255DC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4350"/>
            <a:ext cx="6000750" cy="5524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2172A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69167-22C5-4598-8B3C-0AA08A4C7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717e2971c4270"/>
          <a:stretch xmlns:a="http://schemas.openxmlformats.org/drawingml/2006/main"/>
        </p:blipFill>
        <p:spPr>
          <a:xfrm xmlns:a="http://schemas.openxmlformats.org/drawingml/2006/main">
            <a:off x="5810250" y="1565333"/>
            <a:ext cx="5524500" cy="3422533"/>
          </a:xfrm>
          <a:prstGeom xmlns:a="http://schemas.openxmlformats.org/drawingml/2006/main" prst="roundRect">
            <a:avLst>
              <a:gd name="adj" fmla="val 225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CF628-513A-4AEF-8D03-11B3D57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Final Project · 2026</a:t>
            </a:r>
          </a:p>
        </p:txBody>
      </p:sp>
    </p:spTree>
    <p:extLst>
      <p:ext uri="{BB962C8B-B14F-4D97-AF65-F5344CB8AC3E}">
        <p14:creationId xmlns:p14="http://schemas.microsoft.com/office/powerpoint/2010/main" val="488089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4D816-1E56-497F-A8D9-9D3CA480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01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09350-E2D8-4AF4-B3AB-7C54F8AE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Release decisions need an operational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399EF-E58D-417B-BCE9-97B8E160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DeployFlow turns scattered deployment context into a visible, auditable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C7779-24B6-4724-BE6F-EB111AA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69E78-1E89-43C5-98E6-AEA4835DB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e146137a9444d"/>
          <a:stretch xmlns:a="http://schemas.openxmlformats.org/drawingml/2006/main"/>
        </p:blipFill>
        <p:spPr>
          <a:xfrm xmlns:a="http://schemas.openxmlformats.org/drawingml/2006/main">
            <a:off x="609600" y="1847594"/>
            <a:ext cx="6858000" cy="4248662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2693-3432-4990-BFFE-FE164630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32A57-5E8B-4932-AE75-6B9A92F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3171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Plan the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5C49F-C0D1-4E67-8E2D-4E9F541F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25"/>
            <a:ext cx="317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Capture service, version, owner, risk, target environment, and change summary.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BF2D0-9D78-4CC8-94AE-BAF1BBE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B0B94-F7E1-4DC3-97E4-A9AD92A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3171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Track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4A11A-920E-4014-B8DD-8A64DA3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317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Move a release through planned, running, succeeded, or failed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FED40-5C8B-49E4-9AD9-5CD95C4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E6782-42C7-45EB-9B60-36894249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52875"/>
            <a:ext cx="3171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Read the room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E883C-BB00-4D5D-A72A-77D9BA9C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00525"/>
            <a:ext cx="317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Live status metrics surface risk concentration and release outcomes at a glance.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FD508-500E-4DA7-89A6-34749ED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C3EE8-C1A1-4657-B8AB-FAA381FB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122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22D3EE"/>
                </a:solidFill>
              </a:defRPr>
            </a:pPr>
            <a:r>
              <a:rPr sz="2100" b="1" i="0">
                <a:solidFill>
                  <a:srgbClr val="22D3EE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46459-7452-496C-B32D-434ECF2A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578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RELEASE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B5A61-3925-479B-9554-9FD862F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95875"/>
            <a:ext cx="1571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49632-3AB6-4F52-9ED9-D5BEF19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38750"/>
            <a:ext cx="122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34D399"/>
                </a:solidFill>
              </a:defRPr>
            </a:pPr>
            <a:r>
              <a:rPr sz="2100" b="1" i="0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0CA0E-9810-4038-B85F-C6618ECD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228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ENVIRONMENTS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71DBC-6BEC-43F7-9D62-EE54F0D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9A095-8E92-4F63-869F-25BF2417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408266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36BA98-FB6F-4651-9C22-0A770755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02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BF3E5-102F-404B-8B1D-10A0067F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One delivery path, seven verifiable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A1CB8-9D90-4EF1-973C-19217A6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The same application moves from source checks to containers, Kubernetes, and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72A90-206E-4E5D-B2EE-B0D4BC80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5DE0E-3C74-48EA-A970-2E4347E1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FC2A-73CB-480F-BE7C-2C5967C5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22D3EE"/>
                </a:solidFill>
              </a:defRPr>
            </a:pPr>
            <a:r>
              <a:rPr sz="1200" b="1" i="0">
                <a:solidFill>
                  <a:srgbClr val="22D3EE"/>
                </a:solidFill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49BE-399E-422C-BAC0-CAC4E9D6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Operator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AFB20-93C8-47B3-87A5-87DBF12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A3218-26A6-41CE-87CE-8320DA1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484B3-7262-4EF8-B271-62C1F6B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5348D-6BC2-49BF-9A1C-0218A25A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34D399"/>
                </a:solidFill>
              </a:defRPr>
            </a:pPr>
            <a:r>
              <a:rPr sz="1200" b="1" i="0">
                <a:solidFill>
                  <a:srgbClr val="34D399"/>
                </a:solidFill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2A7A8-B2AB-40A6-A94F-3FECC0F2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REST +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5C6B9-ED43-4C16-923F-27CBB53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AD1E5-35A5-48BA-A589-171F5217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F8F86-50BC-4BAE-93C9-01E627F6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82FC8-6C7D-4E37-A6BF-8EFB8B8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8B5CF6"/>
                </a:solidFill>
              </a:defRPr>
            </a:pPr>
            <a:r>
              <a:rPr sz="1200" b="1" i="0">
                <a:solidFill>
                  <a:srgbClr val="8B5CF6"/>
                </a:solidFill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0A2AB-B7D0-4451-837D-105AC1A7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Release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C74BF-264F-4FDC-9EDC-A1D24AB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8DCDE-2C70-49EA-8A9B-519EAB73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374B6-19F8-492B-AFBD-605050B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9FA34-C65B-4C92-AFDD-9438EAFE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22D3EE"/>
                </a:solidFill>
              </a:defRPr>
            </a:pPr>
            <a:r>
              <a:rPr sz="1200" b="1" i="0">
                <a:solidFill>
                  <a:srgbClr val="22D3EE"/>
                </a:solidFill>
              </a:rPr>
              <a:t>Docker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AC447-9F17-4D94-BB5D-247E7FE0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Reproducible images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20D46-5D86-4618-86B6-2EC1A67D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85EAE-3762-4942-AD6A-DB6181C3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E196B-6458-4F3F-AA04-A851828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D031C-97D1-485E-9C51-5AE1AB6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8B5CF6"/>
                </a:solidFill>
              </a:defRPr>
            </a:pPr>
            <a:r>
              <a:rPr sz="1200" b="1" i="0">
                <a:solidFill>
                  <a:srgbClr val="8B5CF6"/>
                </a:solidFill>
              </a:rPr>
              <a:t>GitHub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3E524-580E-441A-9F66-3CCB5ED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Test · scan · push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367A2-8D71-4599-986C-0D2F242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79A94-6A4F-4535-A42C-B6AC9B8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09D04-96D3-48A9-B932-36063AF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21A168-A8A8-4913-AD1C-EDFD7FCD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34D399"/>
                </a:solidFill>
              </a:defRPr>
            </a:pPr>
            <a:r>
              <a:rPr sz="1200" b="1" i="0">
                <a:solidFill>
                  <a:srgbClr val="34D399"/>
                </a:solidFill>
              </a:rPr>
              <a:t>Helm + EKS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1C92D-D3D0-4139-8D06-17DF7E72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Declarative runtime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39A6F-F2C8-473B-AA4C-F4680AD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81325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36E6F9-D692-4E3E-8E00-70CF3DC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241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6A495A-E021-403E-A26D-D5093A0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24100"/>
            <a:ext cx="1352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68DB77-2878-4028-BCF8-EE246448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62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FBBF24"/>
                </a:solidFill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BBF24"/>
                </a:solidFill>
              </a:defRPr>
            </a:pPr>
            <a:r>
              <a:rPr sz="1200" b="1" i="0">
                <a:solidFill>
                  <a:srgbClr val="FBBF24"/>
                </a:solidFill>
              </a:rPr>
              <a:t>Prometheus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53BB54-45BC-4CD5-9343-2E8F42F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AAB2CF"/>
                </a:solidFill>
              </a:defRPr>
            </a:pPr>
            <a:r>
              <a:rPr sz="900" b="0" i="0">
                <a:solidFill>
                  <a:srgbClr val="AAB2CF"/>
                </a:solidFill>
              </a:rPr>
              <a:t>Operational 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04C9C7-EA86-49B5-91A0-9519E21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67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6F7FB"/>
                </a:solidFill>
              </a:defRPr>
            </a:pPr>
            <a:r>
              <a:rPr sz="1350" b="1" i="0">
                <a:solidFill>
                  <a:srgbClr val="F6F7FB"/>
                </a:solidFill>
              </a:rPr>
              <a:t>Build once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69E495-CC8F-4F50-83F1-3883772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96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AB2CF"/>
                </a:solidFill>
              </a:defRPr>
            </a:pPr>
            <a:r>
              <a:rPr sz="1050" b="0" i="0">
                <a:solidFill>
                  <a:srgbClr val="AAB2CF"/>
                </a:solidFill>
              </a:rPr>
              <a:t>Immutable images are tagged with the commit SHA, scanned, and promoted through Helm values.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4D6551-3A10-4D57-8D61-967DCED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67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6F7FB"/>
                </a:solidFill>
              </a:defRPr>
            </a:pPr>
            <a:r>
              <a:rPr sz="1350" b="1" i="0">
                <a:solidFill>
                  <a:srgbClr val="F6F7FB"/>
                </a:solidFill>
              </a:rPr>
              <a:t>Operate safely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C5F0E-E7CB-470C-8E3A-10F12EF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AB2CF"/>
                </a:solidFill>
              </a:defRPr>
            </a:pPr>
            <a:r>
              <a:rPr sz="1050" b="0" i="0">
                <a:solidFill>
                  <a:srgbClr val="AAB2CF"/>
                </a:solidFill>
              </a:rPr>
              <a:t>Non-root workloads, health probes, resource limits, ingress routing, and autoscaling are encoded—not remembered.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FDC5FC-F8C0-496F-ABBC-22A47073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67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6F7FB"/>
                </a:solidFill>
              </a:defRPr>
            </a:pPr>
            <a:r>
              <a:rPr sz="1350" b="1" i="0">
                <a:solidFill>
                  <a:srgbClr val="F6F7FB"/>
                </a:solidFill>
              </a:rPr>
              <a:t>Close the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5F0F0E-93CC-4E6A-B9BD-9A9B243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19600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AAB2CF"/>
                </a:solidFill>
              </a:defRPr>
            </a:pPr>
            <a:r>
              <a:rPr sz="1050" b="0" i="0">
                <a:solidFill>
                  <a:srgbClr val="AAB2CF"/>
                </a:solidFill>
              </a:rPr>
              <a:t>Prometheus scrapes the API; Grafana turns request behavior into a live operational signal.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3E975-D710-40C0-BB74-AA3183AD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9290F6-E228-4FD5-9584-76A15F70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63788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F7DE6-92FB-48FC-8370-7351B11E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03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94BD3-CAE5-4D0C-B6FA-C4D6B04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The API is observable—and exercised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B0F9D-7AB2-4538-B844-FD645DA9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Release CRUD, aggregate statistics, health, readiness, and Prometheus metrics are built 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7588C-F2DD-4671-B772-E7084E9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422F6-BFC7-4F58-96E6-0D16F2D34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17301774b4c1a"/>
          <a:stretch xmlns:a="http://schemas.openxmlformats.org/drawingml/2006/main"/>
        </p:blipFill>
        <p:spPr>
          <a:xfrm xmlns:a="http://schemas.openxmlformats.org/drawingml/2006/main">
            <a:off x="609600" y="2010536"/>
            <a:ext cx="6715125" cy="3894203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58D84-9CA6-4AD9-80DE-FC6709AC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43C0F-A937-452E-A0E7-199A4E75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288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34D399"/>
                </a:solidFill>
              </a:defRPr>
            </a:pPr>
            <a:r>
              <a:rPr sz="2100" b="1" i="0">
                <a:solidFill>
                  <a:srgbClr val="34D399"/>
                </a:solidFill>
              </a:rPr>
              <a:t>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41FEF-9FEF-4646-BE30-FF83A3BE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PYTEST CASES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AE45D-CAF6-463B-88D7-856DDE2A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85950"/>
            <a:ext cx="171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E9AE1-A438-48C7-919B-BD27EC3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288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22D3EE"/>
                </a:solidFill>
              </a:defRPr>
            </a:pPr>
            <a:r>
              <a:rPr sz="2100" b="1" i="0">
                <a:solidFill>
                  <a:srgbClr val="22D3EE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352A8-32A6-4124-8CCD-8B910725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47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RUFF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94087-092B-4A58-ACD1-4DEC2AF2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B74A2-253B-42B4-8D65-A78DB4E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Behavior, not snapshots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77113-6DC2-4061-A1E3-0EDF8F19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Create, validate, list, fetch, update, delete, stats, health, and readiness paths are covered.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F6DFD-C73B-4ABC-911D-920BD23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C2A0F-B5AE-45CF-9716-7BCCF32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Isolated test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B1EA0-8340-4B75-B52B-02DE23F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960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Each test suite overrides the database dependency with an in-memory SQLite engine.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85E69-E022-4624-86F4-82839B53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67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C990B-71B4-4442-B1CC-E792D2B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97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Machine-readable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46510-008E-4564-ADC2-F55D7B1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673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Swagger documents every endpoint and schema directly from the running application.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92213-C033-4AFF-B38F-56D5BD7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770E0-2B59-4D05-BF6F-D24225A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1352400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D7EB1-33A3-4C7F-B4C0-3B9CA762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04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24AB1-17CF-41E6-884A-4FCF012E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GitHub Actions completed the delivery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97773-F2C5-4F26-9434-22E58AD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The completed `main` workflow tested the code, built both images, scanned them, published GHCR tags, and reported deployment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E4B6C-0394-489E-BC69-FAB5F26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126C2-536B-4D23-BF1A-49D1B3B8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56d8141a04bc7"/>
          <a:stretch xmlns:a="http://schemas.openxmlformats.org/drawingml/2006/main"/>
        </p:blipFill>
        <p:spPr>
          <a:xfrm xmlns:a="http://schemas.openxmlformats.org/drawingml/2006/main">
            <a:off x="609600" y="2144499"/>
            <a:ext cx="5715000" cy="3540552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C0B32-B009-4A57-B3AC-9FCA23C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F7C06-CC16-4A0F-8E53-A8317F5A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52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8B5CF6"/>
                </a:solidFill>
              </a:defRPr>
            </a:pPr>
            <a:r>
              <a:rPr sz="900" b="1" i="0">
                <a:solidFill>
                  <a:srgbClr val="8B5CF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73D5D-7B95-4795-9E21-2217774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DDB4D-52B8-4BED-99CC-ECA5793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955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pytest · Ruff · npm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BE406-D7B2-4FFA-8E0C-01B83F92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5742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EF18C-01B6-4C0D-A76E-32AAAFFC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9786E-CF11-4478-BFDF-B28CE131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8B5CF6"/>
                </a:solidFill>
              </a:defRPr>
            </a:pPr>
            <a:r>
              <a:rPr sz="900" b="1" i="0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2E181-813C-4540-869E-0E3C1C47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4D11E-3C1E-45F9-AE23-B4F844E5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1465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backend + frontend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D5D7D-9E89-4CCF-A07C-1373F96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7657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1AD8C-E42C-4A5B-B6C9-E8D46613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5E421-09F1-4A39-9FB1-E947A66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90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FBBF24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FBBF24"/>
                </a:solidFill>
              </a:defRPr>
            </a:pPr>
            <a:r>
              <a:rPr sz="900" b="1" i="0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3BDB7-211B-49C3-B0B6-29FFC9C0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48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5C42F-D0F5-4B5F-9201-2B5E5AD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338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Trivy HIGH/CRITICAL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A52D4-3CEE-4861-8432-6D93078D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9572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C4F24-3E78-47CF-B353-02A27092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C2F32-35F3-4788-8441-E8F38D1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8B5CF6"/>
                </a:solidFill>
              </a:defRPr>
            </a:pPr>
            <a:r>
              <a:rPr sz="900" b="1" i="0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4D948-7410-4A4A-AFAE-88F89A3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1ADEE-D7B3-4BB6-86FC-309BAAA4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5295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GHCR · commit SHA tags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FFAC6-3422-450D-964C-8B80155F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1487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59C2E-C982-47C7-9CF5-7D6014FF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625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13333"/>
            </a:srgbClr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146A7-BB0A-4A33-87BA-E6EC980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29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8B5CF6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8B5CF6"/>
                </a:solidFill>
              </a:defRPr>
            </a:pPr>
            <a:r>
              <a:rPr sz="900" b="1" i="0">
                <a:solidFill>
                  <a:srgbClr val="8B5CF6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C3CC1-DC5E-4106-88EE-304069A1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086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Deploy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D40ED-35A4-4564-9541-3DEC672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3721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Helm when kubeconfig exists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C8A18-2AE1-4359-8142-3E2DA54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27DC0-32E8-4C43-B329-AB21186C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1346150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4C7DA-AACD-40F0-A0ED-E85E29F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05 · INFRASTRUCTURE AS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AE54C-CC5E-448B-93FE-E2271BC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Real AWS infrastructure—provisioned and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727A4-89B3-4681-95E8-F5FA1F09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Terraform created the two-AZ VPC and EKS platform in Mumbai; the cluster reported Active with zero node-health issues.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094D2-C46C-44E0-9546-B8B6E8A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9525B-C025-43DE-B85C-26EFF5436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d5ab4218a4c76"/>
          <a:stretch xmlns:a="http://schemas.openxmlformats.org/drawingml/2006/main"/>
        </p:blipFill>
        <p:spPr>
          <a:xfrm xmlns:a="http://schemas.openxmlformats.org/drawingml/2006/main">
            <a:off x="622203" y="1809750"/>
            <a:ext cx="7309044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6ABD-6355-429F-9EB7-8953058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F5A0-882D-4796-A1EA-E692CF51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34D399"/>
                </a:solidFill>
              </a:defRPr>
            </a:pPr>
            <a:r>
              <a:rPr sz="2100" b="1" i="0">
                <a:solidFill>
                  <a:srgbClr val="34D399"/>
                </a:solidFill>
              </a:rPr>
              <a:t>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B17F9-52C4-4E93-BF0D-946A02B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EKS 1.36 · AP-SOUTH-1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98F7D-F8D7-4B8D-98C3-27D6011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83B45-9619-4E40-92CA-D5E570E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Non-empty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B6F7-6650-48E5-AE2E-2AF8075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56 resources planned: VPC, four subnets, NAT, IAM, encryption, logging, EKS, and managed nodes.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F338D-C9AD-4363-82F6-21869CEB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104AD-4324-4591-A530-8195902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Two ready workers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E3251-5489-4909-97D2-81061D6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Workloads ran across private subnets in two availability zones behind an AWS load balancer.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82A47-D65B-45E7-98FB-F99AD10A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91AD6-49C4-41A8-B17B-F9659F9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Cost-safe teardown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0912D-9574-46BB-8D33-8C6BAA1A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959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Helm releases and the load balancer were removed before Terraform destroyed the cloud stack.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CDD5E-08D6-4F85-B0C5-DF9665F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6D7AC-58A7-4E30-89D4-384ABFC3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1080000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47173-6176-4751-823F-FCA0D912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06 ·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CEBE2-5F25-4672-8084-2BBA1756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The Helm release ran on EKS—not hypothetical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575F5-7485-407D-A938-5D902A4E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The same chart deployed PostgreSQL, two backend replicas, two frontend replicas, and ingress on the live AWS cluster.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A8DF3-32F6-4214-82B3-6C11274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BD4B7-EBC9-48D9-99D6-70DFEDAE8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f267815964e33"/>
          <a:stretch xmlns:a="http://schemas.openxmlformats.org/drawingml/2006/main"/>
        </p:blipFill>
        <p:spPr>
          <a:xfrm xmlns:a="http://schemas.openxmlformats.org/drawingml/2006/main">
            <a:off x="609600" y="1881491"/>
            <a:ext cx="7143750" cy="4142769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40395-A7E0-4649-AA52-3BDF7B6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81D34"/>
          </a:solidFill>
          <a:ln xmlns:a="http://schemas.openxmlformats.org/drawingml/2006/main" w="9525">
            <a:solidFill>
              <a:srgbClr val="2D36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1CA47-C646-4120-82DE-AF3472D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66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34D399"/>
                </a:solidFill>
              </a:defRPr>
            </a:pPr>
            <a:r>
              <a:rPr sz="2100" b="1" i="0">
                <a:solidFill>
                  <a:srgbClr val="34D399"/>
                </a:solidFill>
              </a:rPr>
              <a:t>2 + 2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DFB10-2329-46D1-B270-774C67C8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BACKEND + FRONTEND PODS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38D23-7940-4B8A-8060-D6C8F9E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96319-E5AA-4B07-A23E-3254225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ClusterIP by default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2C5B1-31FC-46B1-A0EA-B38C575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Frontend, backend, and PostgreSQL stay internal; ingress is the controlled entry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145E3-A0FA-4859-94B2-E640FCB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83297-29E0-4659-930C-3804F9A2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Environment overlays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B202D-9DAE-4F57-8BCD-E49731A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Base, development, and production values separate resource and scaling choices.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E0017-DC56-49F8-89EE-8258475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4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51EA1-71DC-40D0-826A-EB8ECAA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6F7FB"/>
                </a:solidFill>
              </a:defRPr>
            </a:pPr>
            <a:r>
              <a:rPr sz="1125" b="1" i="0">
                <a:solidFill>
                  <a:srgbClr val="F6F7FB"/>
                </a:solidFill>
              </a:rPr>
              <a:t>Operational safeguards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FB695-FC9E-4DFA-8167-E4C0E6A0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435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Readiness/liveness probes, resource requests and limits, security contexts, and HPA are templated.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ED713-AFA6-4F2D-A0A8-C7157AF9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A0EEF-5C18-4B56-BB4C-E0EE597C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1511338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55D09-CC04-4C1E-81E7-7B4C5BF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07 ·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5E055-28FB-4EA4-8BC4-3F853855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Telemetry closes the delivery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9E23-24D3-456A-8D35-5EFD842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ServiceMonitor discovery proves scrape health; a controlled load test produces visible request-rate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0DA2-AFBD-47CA-807E-2357AF7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A7507-F476-417A-BAA7-8D01952CA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649e113749eb"/>
          <a:stretch xmlns:a="http://schemas.openxmlformats.org/drawingml/2006/main"/>
        </p:blipFill>
        <p:spPr>
          <a:xfrm xmlns:a="http://schemas.openxmlformats.org/drawingml/2006/main">
            <a:off x="609600" y="2232400"/>
            <a:ext cx="5095875" cy="29551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F4ABC-A8DD-44BC-83B1-AD0BCF0DFE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415ebdc8c47bf"/>
          <a:stretch xmlns:a="http://schemas.openxmlformats.org/drawingml/2006/main"/>
        </p:blipFill>
        <p:spPr>
          <a:xfrm xmlns:a="http://schemas.openxmlformats.org/drawingml/2006/main">
            <a:off x="5953125" y="2077737"/>
            <a:ext cx="5629275" cy="3264502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40E3D-3F6B-43E4-8E37-CBAA2454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DCAB2-F8F9-4153-A5A3-5D0FFEE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76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2 / 2 TARGETS 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F2E5C-8183-49AC-876E-40F4A17D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197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Prometheus discovers both API replicas through the chart’s ServiceMonitor.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D627-A5BB-45ED-A6C6-3E773C7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10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3B5F8-24CF-4617-9900-09D1A29D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769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604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F441F-DEC3-443C-B5BB-50CA880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97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AAB2CF"/>
                </a:solidFill>
              </a:defRPr>
            </a:pPr>
            <a:r>
              <a:rPr sz="975" b="0" i="0">
                <a:solidFill>
                  <a:srgbClr val="AAB2CF"/>
                </a:solidFill>
              </a:rPr>
              <a:t>Grafana captured the generated traffic spike and 15-minute request 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A62C4-E9B4-4A5D-9BCE-2D6C225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2ADF2-A9B1-4718-91E2-9468CAC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DEVOPS CAPSTONE</a:t>
            </a:r>
          </a:p>
        </p:txBody>
      </p:sp>
    </p:spTree>
    <p:extLst>
      <p:ext uri="{BB962C8B-B14F-4D97-AF65-F5344CB8AC3E}">
        <p14:creationId xmlns:p14="http://schemas.microsoft.com/office/powerpoint/2010/main" val="1965672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C3506-C072-4EFE-906D-12605AF2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08 ·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05154-D449-4FF6-A674-D154B53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6F7FB"/>
                </a:solidFill>
              </a:defRPr>
            </a:pPr>
            <a:r>
              <a:rPr sz="2550" b="1" i="0">
                <a:solidFill>
                  <a:srgbClr val="F6F7FB"/>
                </a:solidFill>
              </a:rPr>
              <a:t>Submission-ready with published container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5E112-6B14-49A0-87FC-9884BA4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AB2CF"/>
                </a:solidFill>
              </a:defRPr>
            </a:pPr>
            <a:r>
              <a:rPr sz="1200" b="0" i="0">
                <a:solidFill>
                  <a:srgbClr val="AAB2CF"/>
                </a:solidFill>
              </a:rPr>
              <a:t>The repository, GitHub workflow, GHCR image, AWS, Kubernetes, and observability evidence are complete.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82DB6-094A-484E-A029-E674E4E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AAB2CF"/>
                </a:solidFill>
              </a:defRPr>
            </a:pPr>
            <a:r>
              <a:rPr sz="900" b="1" i="0">
                <a:solidFill>
                  <a:srgbClr val="AAB2C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4113C-EBE7-4873-9847-6D05A25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10150" cy="3876675"/>
          </a:xfrm>
          <a:prstGeom xmlns:a="http://schemas.openxmlformats.org/drawingml/2006/main" prst="roundRect">
            <a:avLst>
              <a:gd name="adj" fmla="val 3931"/>
            </a:avLst>
          </a:prstGeom>
          <a:solidFill xmlns:a="http://schemas.openxmlformats.org/drawingml/2006/main">
            <a:srgbClr val="12172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B8300-C2CB-4712-8525-E8600936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34D399"/>
                </a:solidFill>
              </a:defRPr>
            </a:pPr>
            <a:r>
              <a:rPr sz="1800" b="1" i="0">
                <a:solidFill>
                  <a:srgbClr val="34D399"/>
                </a:solidFill>
              </a:rPr>
              <a:t>Verified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453D0-6C53-491B-AE72-FE30F81B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082C2-F0B3-4710-8003-C92E2C0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9 backend tests + Ruff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D5AD-BC72-47C6-B967-CC0E4AD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D26B8-5FD9-4272-83BC-8C2E0609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Frontend build + npm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FF802-B32C-49E1-BFEE-ED42AC6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7910A-0F42-4708-BCF2-158C755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Hardened Docker Compose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016B9-944B-4515-9720-677B1775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DADAE-2C40-466B-AEE0-CFFF14F5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GitHub Actions: all jobs successful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EB5A2-BBBA-44CD-B80E-6EE90EA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46EE3-845F-4B32-9F54-9D7CE83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Public GHCR SHA-tagged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C49C0-63DA-46D6-A520-C937659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09C54-E122-46B9-BC87-3966810D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Helm on kind + live EKS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4D426-DE80-48B1-9920-AD3C4432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34D399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34D399"/>
                </a:solidFill>
              </a:defRPr>
            </a:pPr>
            <a:r>
              <a:rPr sz="1125" b="1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3C669-6DD1-4245-9699-BCB65B2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3762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6F7FB"/>
                </a:solidFill>
              </a:defRPr>
            </a:pPr>
            <a:r>
              <a:rPr sz="1050" b="0" i="0">
                <a:solidFill>
                  <a:srgbClr val="F6F7FB"/>
                </a:solidFill>
              </a:rPr>
              <a:t>Prometheus, Grafana, AWS evidence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5236E-D188-45B8-AE76-BBE49F1CB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4105badb643b9"/>
          <a:stretch xmlns:a="http://schemas.openxmlformats.org/drawingml/2006/main"/>
        </p:blipFill>
        <p:spPr>
          <a:xfrm xmlns:a="http://schemas.openxmlformats.org/drawingml/2006/main">
            <a:off x="5962650" y="2118598"/>
            <a:ext cx="5619750" cy="3258978"/>
          </a:xfrm>
          <a:prstGeom xmlns:a="http://schemas.openxmlformats.org/drawingml/2006/main" prst="roundRect">
            <a:avLst>
              <a:gd name="adj" fmla="val 2948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F7590-0FD7-4BA9-AB00-A48008E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Recommended demo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122A-3931-4473-876B-128C64C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817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6F7FB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6F7FB"/>
                </a:solidFill>
              </a:defRPr>
            </a:pPr>
            <a:r>
              <a:rPr sz="1200" b="1" i="0">
                <a:solidFill>
                  <a:srgbClr val="F6F7FB"/>
                </a:solidFill>
              </a:rPr>
              <a:t>Create release → update status → call API → generate load → watch Grafana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CF572-ACF8-4494-9352-C3E3989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658"/>
          </a:solidFill>
          <a:ln xmlns:a="http://schemas.openxmlformats.org/drawingml/2006/main" w="0">
            <a:solidFill>
              <a:srgbClr val="2D36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2550F-0B60-41F3-BDCF-FB34A483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AAB2CF"/>
                </a:solidFill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AAB2CF"/>
                </a:solidFill>
              </a:defRPr>
            </a:pPr>
            <a:r>
              <a:rPr sz="675" b="1" i="0">
                <a:solidFill>
                  <a:srgbClr val="AAB2CF"/>
                </a:solidFill>
              </a:rPr>
              <a:t>DEPLOYFLOW · AWS VERIFIED · GHCR PUBLISHED</a:t>
            </a:r>
          </a:p>
        </p:txBody>
      </p:sp>
    </p:spTree>
    <p:extLst>
      <p:ext uri="{BB962C8B-B14F-4D97-AF65-F5344CB8AC3E}">
        <p14:creationId xmlns:p14="http://schemas.microsoft.com/office/powerpoint/2010/main" val="295111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2026-10-16T13:38:41.0270000Z</dcterms:created>
  <dcterms:modified xsi:type="dcterms:W3CDTF">2026-10-16T13:38:41.0270000Z</dcterms:modified>
</coreProperties>
</file>
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ce71b973374f4d" /><Relationship Type="http://schemas.openxmlformats.org/officeDocument/2006/relationships/extended-properties" Target="/docProps/app.xml" Id="R235e4e5c13ca473e" /><Relationship Type="http://schemas.openxmlformats.org/officeDocument/2006/relationships/officeDocument" Target="/ppt/presentation.xml" Id="R8be69a9cca6e47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670fde68044460"/>
  </p:sldMasterIdLst>
  <p:notesMasterIdLst>
    <p:notesMasterId xmlns:r="http://schemas.openxmlformats.org/officeDocument/2006/relationships" r:id="R2114b0495afe42a5"/>
  </p:notesMasterIdLst>
  <p:sldIdLst>
    <p:sldId xmlns:r="http://schemas.openxmlformats.org/officeDocument/2006/relationships" id="256" r:id="Rf67bb97c25dd4640"/>
    <p:sldId xmlns:r="http://schemas.openxmlformats.org/officeDocument/2006/relationships" id="257" r:id="Rd8ce8e99092e4a97"/>
    <p:sldId xmlns:r="http://schemas.openxmlformats.org/officeDocument/2006/relationships" id="258" r:id="Rf8312e46f40449a2"/>
    <p:sldId xmlns:r="http://schemas.openxmlformats.org/officeDocument/2006/relationships" id="259" r:id="Ra29274081ead4470"/>
    <p:sldId xmlns:r="http://schemas.openxmlformats.org/officeDocument/2006/relationships" id="260" r:id="R9769d56e5a164c1e"/>
    <p:sldId xmlns:r="http://schemas.openxmlformats.org/officeDocument/2006/relationships" id="261" r:id="Rad54f83568814aa4"/>
    <p:sldId xmlns:r="http://schemas.openxmlformats.org/officeDocument/2006/relationships" id="262" r:id="Rb338d79db1ab4bb1"/>
    <p:sldId xmlns:r="http://schemas.openxmlformats.org/officeDocument/2006/relationships" id="263" r:id="Rb0b6618d23b04e0d"/>
    <p:sldId xmlns:r="http://schemas.openxmlformats.org/officeDocument/2006/relationships" id="264" r:id="R022e7cb55c024b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47ef5ff3114062" /><Relationship Type="http://schemas.openxmlformats.org/officeDocument/2006/relationships/slideMaster" Target="/ppt/slideMasters/slideMaster1.xml" Id="R7a670fde68044460" /><Relationship Type="http://schemas.openxmlformats.org/officeDocument/2006/relationships/notesMaster" Target="/ppt/notesMasters/notesMaster1.xml" Id="R2114b0495afe42a5" /><Relationship Type="http://schemas.openxmlformats.org/officeDocument/2006/relationships/presProps" Target="/ppt/presProps.xml" Id="Reda78d25524b4f64" /><Relationship Type="http://schemas.openxmlformats.org/officeDocument/2006/relationships/tableStyles" Target="/ppt/tableStyles.xml" Id="R72ed554cd4c340f3" /><Relationship Type="http://schemas.openxmlformats.org/officeDocument/2006/relationships/slide" Target="/ppt/slides/slide1.xml" Id="Rf67bb97c25dd4640" /><Relationship Type="http://schemas.openxmlformats.org/officeDocument/2006/relationships/slide" Target="/ppt/slides/slide2.xml" Id="Rd8ce8e99092e4a97" /><Relationship Type="http://schemas.openxmlformats.org/officeDocument/2006/relationships/slide" Target="/ppt/slides/slide3.xml" Id="Rf8312e46f40449a2" /><Relationship Type="http://schemas.openxmlformats.org/officeDocument/2006/relationships/slide" Target="/ppt/slides/slide4.xml" Id="Ra29274081ead4470" /><Relationship Type="http://schemas.openxmlformats.org/officeDocument/2006/relationships/slide" Target="/ppt/slides/slide5.xml" Id="R9769d56e5a164c1e" /><Relationship Type="http://schemas.openxmlformats.org/officeDocument/2006/relationships/slide" Target="/ppt/slides/slide6.xml" Id="Rad54f83568814aa4" /><Relationship Type="http://schemas.openxmlformats.org/officeDocument/2006/relationships/slide" Target="/ppt/slides/slide7.xml" Id="Rb338d79db1ab4bb1" /><Relationship Type="http://schemas.openxmlformats.org/officeDocument/2006/relationships/slide" Target="/ppt/slides/slide8.xml" Id="Rb0b6618d23b04e0d" /><Relationship Type="http://schemas.openxmlformats.org/officeDocument/2006/relationships/slide" Target="/ppt/slides/slide9.xml" Id="R022e7cb55c024b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54dc096d014b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4afeeb9f794089" /><Relationship Type="http://schemas.openxmlformats.org/officeDocument/2006/relationships/notesMaster" Target="/ppt/notesMasters/notesMaster1.xml" Id="R8be8795cbf7e4e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a0db0b9ca34502" /><Relationship Type="http://schemas.openxmlformats.org/officeDocument/2006/relationships/notesMaster" Target="/ppt/notesMasters/notesMaster1.xml" Id="Rc359c923ac144e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d328ee5dc94d05" /><Relationship Type="http://schemas.openxmlformats.org/officeDocument/2006/relationships/notesMaster" Target="/ppt/notesMasters/notesMaster1.xml" Id="R5cb63dac7e8340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dd1a02704c4b61" /><Relationship Type="http://schemas.openxmlformats.org/officeDocument/2006/relationships/notesMaster" Target="/ppt/notesMasters/notesMaster1.xml" Id="R8b470db669db40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8cb769f40a45d5" /><Relationship Type="http://schemas.openxmlformats.org/officeDocument/2006/relationships/notesMaster" Target="/ppt/notesMasters/notesMaster1.xml" Id="Rcf3a5eb6f34a45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263c130fdb4525" /><Relationship Type="http://schemas.openxmlformats.org/officeDocument/2006/relationships/notesMaster" Target="/ppt/notesMasters/notesMaster1.xml" Id="R2ba55afa69ea40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7eeabc86564f25" /><Relationship Type="http://schemas.openxmlformats.org/officeDocument/2006/relationships/notesMaster" Target="/ppt/notesMasters/notesMaster1.xml" Id="Raac2e364b4d544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a5d79350804d8d" /><Relationship Type="http://schemas.openxmlformats.org/officeDocument/2006/relationships/notesMaster" Target="/ppt/notesMasters/notesMaster1.xml" Id="R071f7d63e2a945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f39e267ee54f43" /><Relationship Type="http://schemas.openxmlformats.org/officeDocument/2006/relationships/notesMaster" Target="/ppt/notesMasters/notesMaster1.xml" Id="Rbea14344d75749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product: DeployFlow gives a team one place to plan, promote, and observe service releases.</a:t>
            </a:r>
          </a:p>
          <a:p xmlns:a="http://schemas.openxmlformats.org/drawingml/2006/main">
            <a:r>
              <a:t>Explain that every screenshot in this deck was captured from the working local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creating a deployment, then update its status.</a:t>
            </a:r>
          </a:p>
          <a:p xmlns:a="http://schemas.openxmlformats.org/drawingml/2006/main">
            <a:r>
              <a:t>The domain and interface were redesigned from the starter material to avoid a copy-only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interface, API, database, container build, CI, cluster release, monitoring.</a:t>
            </a:r>
          </a:p>
          <a:p xmlns:a="http://schemas.openxmlformats.org/drawingml/2006/main">
            <a:r>
              <a:t>All runtime layers are represented by checked-in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pytest -v during the live demo if time allows.</a:t>
            </a:r>
          </a:p>
          <a:p xmlns:a="http://schemas.openxmlformats.org/drawingml/2006/main">
            <a:r>
              <a:t>Point out the /health, /ready, and /metrics endpoints that support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containers run as non-root users and expose explicit health checks.</a:t>
            </a:r>
          </a:p>
          <a:p xmlns:a="http://schemas.openxmlformats.org/drawingml/2006/main">
            <a:r>
              <a:t>The Trivy action is pinned to an immutable action commit and fails on HIGH or CRITICAL findings.</a:t>
            </a:r>
          </a:p>
          <a:p xmlns:a="http://schemas.openxmlformats.org/drawingml/2006/main">
            <a:r>
              <a:t>GitHub-hosted run proof requires pushing this local repository to the student's own destination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Terraform init and validate succeeded locally.</a:t>
            </a:r>
          </a:p>
          <a:p xmlns:a="http://schemas.openxmlformats.org/drawingml/2006/main">
            <a:r>
              <a:t>The current local AWS token returns STS InvalidClientTokenId, so plan/apply/destroy proof must be captured after valid credentials are supplied.</a:t>
            </a:r>
          </a:p>
          <a:p xmlns:a="http://schemas.openxmlformats.org/drawingml/2006/main">
            <a:r>
              <a:t>Sources: https://docs.aws.amazon.com/eks/latest/userguide/kubernetes-versions.html and https://registry.terraform.io/modules/terraform-aws-modules/eks/aws/latest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local proof used a kind cluster and the same Helm chart committed in the repository.</a:t>
            </a:r>
          </a:p>
          <a:p xmlns:a="http://schemas.openxmlformats.org/drawingml/2006/main">
            <a:r>
              <a:t>Helm lint and template validation also pass.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actual screenshots from the running local monitoring stack.</a:t>
            </a:r>
          </a:p>
          <a:p xmlns:a="http://schemas.openxmlformats.org/drawingml/2006/main">
            <a:r>
              <a:t>The load generator issues repeat API requests so the graph has a clear, verifiable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live demo path.</a:t>
            </a:r>
          </a:p>
          <a:p xmlns:a="http://schemas.openxmlformats.org/drawingml/2006/main">
            <a:r>
              <a:t>Ask the evaluator to distinguish implementation completeness from the two proofs that require the student's GitHub and AWS account authority.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75e08979444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ec71301dc463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0872410ef498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90a91186a4cc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d0884595b349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80569e9da44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430B88-DE57-4717-AEE0-0B6D33C34E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7B89C92-D7F9-4AB6-898B-0AD3FD4C2B2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1453F9-4F7A-4C49-9C8D-279F4982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E193CC-BD13-4826-9465-9B102BC1D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9DFDDE8-B5B3-4233-B8BA-6708441C8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CB4B970-EB73-4B6A-819C-F3ED0904BD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AAC1B3-E886-4BF2-BA2C-0CEF688456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F6E664C-3923-4B8E-A9D8-A3FD7C5C62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CB3030-7521-4DD2-8277-E54371A931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8408F1-C712-40CE-B2DF-36D1157CE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b29dfb587642a8" /><Relationship Type="http://schemas.openxmlformats.org/officeDocument/2006/relationships/slideLayout" Target="/ppt/slideLayouts/slideLayout1.xml" Id="R0d85e95851914eca" /><Relationship Type="http://schemas.openxmlformats.org/officeDocument/2006/relationships/slideLayout" Target="/ppt/slideLayouts/slideLayout2.xml" Id="R34e79f3bff3e4aa7" /><Relationship Type="http://schemas.openxmlformats.org/officeDocument/2006/relationships/slideLayout" Target="/ppt/slideLayouts/slideLayout3.xml" Id="R8f8a817caac2488a" /><Relationship Type="http://schemas.openxmlformats.org/officeDocument/2006/relationships/slideLayout" Target="/ppt/slideLayouts/slideLayout4.xml" Id="R835f895fa5bf45a2" /><Relationship Type="http://schemas.openxmlformats.org/officeDocument/2006/relationships/slideLayout" Target="/ppt/slideLayouts/slideLayout5.xml" Id="Rf24586ede07d436b" /><Relationship Type="http://schemas.openxmlformats.org/officeDocument/2006/relationships/slideLayout" Target="/ppt/slideLayouts/slideLayout6.xml" Id="Raab54deecd7245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85e95851914eca"/>
    <p:sldLayoutId xmlns:r="http://schemas.openxmlformats.org/officeDocument/2006/relationships" id="2147483650" r:id="R34e79f3bff3e4aa7"/>
    <p:sldLayoutId xmlns:r="http://schemas.openxmlformats.org/officeDocument/2006/relationships" id="2147483651" r:id="R8f8a817caac2488a"/>
    <p:sldLayoutId xmlns:r="http://schemas.openxmlformats.org/officeDocument/2006/relationships" id="2147483652" r:id="R835f895fa5bf45a2"/>
    <p:sldLayoutId xmlns:r="http://schemas.openxmlformats.org/officeDocument/2006/relationships" id="2147483653" r:id="Rf24586ede07d436b"/>
    <p:sldLayoutId xmlns:r="http://schemas.openxmlformats.org/officeDocument/2006/relationships" id="2147483654" r:id="Raab54deecd7245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9baf32e9c748e1" /><Relationship Type="http://schemas.openxmlformats.org/officeDocument/2006/relationships/image" Target="/ppt/media/image.jpeg" Id="R112c0af92120460a" /><Relationship Type="http://schemas.openxmlformats.org/officeDocument/2006/relationships/notesSlide" Target="/ppt/notesSlides/notesSlide1.xml" Id="R0f65a6a0104241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cba79f2f0c4a02" /><Relationship Type="http://schemas.openxmlformats.org/officeDocument/2006/relationships/image" Target="/ppt/media/image2.jpeg" Id="Rebb0cbc3a34a4e59" /><Relationship Type="http://schemas.openxmlformats.org/officeDocument/2006/relationships/notesSlide" Target="/ppt/notesSlides/notesSlide2.xml" Id="R750afc859bd64f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0a792024346c5" /><Relationship Type="http://schemas.openxmlformats.org/officeDocument/2006/relationships/notesSlide" Target="/ppt/notesSlides/notesSlide3.xml" Id="R10d742c8c02a46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5b877c00014065" /><Relationship Type="http://schemas.openxmlformats.org/officeDocument/2006/relationships/image" Target="/ppt/media/image3.jpeg" Id="R97d839088bdf4980" /><Relationship Type="http://schemas.openxmlformats.org/officeDocument/2006/relationships/notesSlide" Target="/ppt/notesSlides/notesSlide4.xml" Id="R5ff0ef9131ea4b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e8e66ea2074038" /><Relationship Type="http://schemas.openxmlformats.org/officeDocument/2006/relationships/image" Target="/ppt/media/image4.jpeg" Id="Re8c5cb9704d54afd" /><Relationship Type="http://schemas.openxmlformats.org/officeDocument/2006/relationships/notesSlide" Target="/ppt/notesSlides/notesSlide5.xml" Id="R2132889228fe4d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893656df414ae8" /><Relationship Type="http://schemas.openxmlformats.org/officeDocument/2006/relationships/notesSlide" Target="/ppt/notesSlides/notesSlide6.xml" Id="Ra2996194c85b47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d41a39643b474c" /><Relationship Type="http://schemas.openxmlformats.org/officeDocument/2006/relationships/image" Target="/ppt/media/image5.jpeg" Id="R99c4e27d014648c4" /><Relationship Type="http://schemas.openxmlformats.org/officeDocument/2006/relationships/notesSlide" Target="/ppt/notesSlides/notesSlide7.xml" Id="R7338ddbb41bd4a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0c352c6d3742d7" /><Relationship Type="http://schemas.openxmlformats.org/officeDocument/2006/relationships/image" Target="/ppt/media/image6.jpeg" Id="R9fd918e4e8a94b08" /><Relationship Type="http://schemas.openxmlformats.org/officeDocument/2006/relationships/image" Target="/ppt/media/image7.jpeg" Id="R89283496e3d74250" /><Relationship Type="http://schemas.openxmlformats.org/officeDocument/2006/relationships/notesSlide" Target="/ppt/notesSlides/notesSlide8.xml" Id="Rd4555c9747f24e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0940c173454910" /><Relationship Type="http://schemas.openxmlformats.org/officeDocument/2006/relationships/notesSlide" Target="/ppt/notesSlides/notesSlide9.xml" Id="R685c790cc07f4f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5CFC6E-7307-40C5-BE4A-97C7D13B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8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DEVOPS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F3CA7-4345-4E5C-9E18-9D13CC1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4350" b="1" i="0">
                <a:solidFill>
                  <a:srgbClr val="F6F7FB"/>
                </a:solidFill>
              </a:defRPr>
            </a:pPr>
            <a:r>
              <a:rPr sz="4350" b="1" i="0">
                <a:solidFill>
                  <a:srgbClr val="F6F7FB"/>
                </a:solidFill>
              </a:rPr>
              <a:t>DeployFlow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C2D5B-0E21-4CE1-A83F-6E832475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4238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800" b="0" i="0">
                <a:solidFill>
                  <a:srgbClr val="AAB2CF"/>
                </a:solidFill>
              </a:defRPr>
            </a:pPr>
            <a:r>
              <a:rPr sz="1800" b="0" i="0">
                <a:solidFill>
                  <a:srgbClr val="AAB2CF"/>
                </a:solidFill>
              </a:rPr>
              <a:t>Release operations—from commit to live 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121FC-82DC-45A2-9727-0EF84BB8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62EEA-F7D2-4585-A72C-B0A9FAA8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432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22449-F7CC-4D25-BAAC-08180103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76600"/>
            <a:ext cx="895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1A8AC-8CB5-42C1-982F-51F378DD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343275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127B2-AF0B-41D2-99B1-54E9F2F4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76600"/>
            <a:ext cx="1257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B8D18B-2017-4C60-A0A5-FD2A2C9C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43275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KUBERNETES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85FAB-68D5-4A2A-A504-53D89C43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6F7FB"/>
                </a:solidFill>
              </a:defRPr>
            </a:pPr>
            <a:r>
              <a:rPr sz="1350" b="0" i="0">
                <a:solidFill>
                  <a:srgbClr val="F6F7FB"/>
                </a:solidFill>
              </a:rPr>
              <a:t>A production-minded delivery system with container security, Infrastructure as Code, Helm deployment, and observable runtime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3917B-57AE-465A-8894-4CCD601A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14350"/>
            <a:ext cx="6000750" cy="552450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9F878-0D03-49F3-B8AB-ABF17C9190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c0af92120460a"/>
          <a:stretch xmlns:a="http://schemas.openxmlformats.org/drawingml/2006/main"/>
        </p:blipFill>
        <p:spPr>
          <a:xfrm xmlns:a="http://schemas.openxmlformats.org/drawingml/2006/main">
            <a:off x="5810250" y="1565333"/>
            <a:ext cx="5524500" cy="3422533"/>
          </a:xfrm>
          <a:prstGeom xmlns:a="http://schemas.openxmlformats.org/drawingml/2006/main" prst="roundRect">
            <a:avLst>
              <a:gd name="adj" fmla="val 225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7E011-189A-4119-8771-74A7B628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Final Project · 2026</a:t>
            </a:r>
          </a:p>
        </p:txBody>
      </p:sp>
    </p:spTree>
    <p:extLst>
      <p:ext uri="{BB962C8B-B14F-4D97-AF65-F5344CB8AC3E}">
        <p14:creationId xmlns:p14="http://schemas.microsoft.com/office/powerpoint/2010/main" val="4356201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4CD74-3088-4D75-815C-A2851AF6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01 ·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34E72-A8D7-488B-AB18-AA9E5A1B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Release decisions need an operational home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9ADCA-1BCA-47FB-80A7-0D2D902A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DeployFlow turns scattered deployment context into a visible, auditable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5BAF4-80F8-42D0-9528-3FA2AEA2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92E51-E586-473B-889B-42767DB3BA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0cbc3a34a4e59"/>
          <a:stretch xmlns:a="http://schemas.openxmlformats.org/drawingml/2006/main"/>
        </p:blipFill>
        <p:spPr>
          <a:xfrm xmlns:a="http://schemas.openxmlformats.org/drawingml/2006/main">
            <a:off x="609600" y="1847594"/>
            <a:ext cx="6858000" cy="4248662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A1238-2477-4B3A-8AB5-2D774A0D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ED5CE-366E-4792-B31E-58477AB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47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Plan the change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02DFC-E427-40AE-B93D-FB57BC70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95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Capture service, version, owner, risk, target environment, and change summary.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CAB0D-8BBD-4F9D-9D34-FE52A6A7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1D2D0-9F3B-4CEC-9EE6-5AFFEB3C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Track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445DB-9419-40D0-B5B6-E11AF090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480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Move a release through planned, running, succeeded, or failed states.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FC771-0740-45FA-A838-8359F7E9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CCB54-6DB3-4F25-8B45-8AFAB78F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171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Read the room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6DA98-BD94-4FCE-921C-47C322E9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00525"/>
            <a:ext cx="3171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Live status metrics surface risk concentration and release outcomes at a glance.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584D75-88CE-4A74-B964-671ED84E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BF0CC2-E264-47D2-9000-551CB867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CF3E8-1EE8-416A-A4B7-7BDA811E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RELEASE STATES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C3FFE-CE98-4B73-A842-842FBBE2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95875"/>
            <a:ext cx="1571625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FB9C24-8301-45D8-81B4-B1E6A861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38750"/>
            <a:ext cx="1228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E3685-A8E8-4C6C-BB6B-9B8D033A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65785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ENVIRONMENTS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9BACAD-C3A7-45CF-A4A2-DD7992FB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0906CB-C712-4913-8BF0-144A50F3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4770401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37B2A8-368C-4943-8818-B9266EE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02 ·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064F7-6435-4135-9A9C-C6995388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One delivery path, seven verifiable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1D258-8A74-4A56-AA71-5D6C225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The same application moves from source checks to containers, Kubernetes, and telemetry.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DED9A-FEF9-4D2F-A312-2F4E5D57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050808-99C0-45E1-A468-AC174000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526BC-6247-4B8E-B81F-F40BBD99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React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6C435-EB08-4046-8341-C151CB0F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Operator UI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BBD617-757A-4EA8-B9DD-2A011D00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53958-A13B-4ECA-845F-7EE68B26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5B10E-7700-4FF0-BA3B-FFFC4351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93F35-12EC-4E49-AD1E-CFFEBBC5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FastAPI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99671-F938-4AB6-A4A5-7FC254A2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REST +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095DA-C8C1-40E3-B12A-C46BAA59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F31842-0331-438C-B44C-276E8D36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CE028-803E-4B3F-AA4D-5D70A272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45F3BB-ED3A-438D-AF64-557AE790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PostgreSQL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A7220E-6E9F-4D93-8EC0-BC95FC39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Release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6BF78D-DC46-49E1-AD97-C2A07257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5AC58-E78C-4A4A-B0D0-58BA2624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C4EE59-6285-4CA2-8D7B-9260BCAB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E86C8F-2C56-4388-8824-518CA04F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Docker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15A699-C19E-413E-9CBB-62DA95BC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Reproducible images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6DD5D-5FC0-441F-BBFB-8FB48A94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4D55D2-7797-46F1-87F3-8A182C56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6FA78-31FE-4C10-A485-BAB182E4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338167-C04E-4E8A-A8B0-C8D5A3C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8B5CF6"/>
                </a:solidFill>
              </a:defRPr>
            </a:pPr>
            <a:r>
              <a:rPr sz="1200" b="1" i="0">
                <a:solidFill>
                  <a:srgbClr val="8B5CF6"/>
                </a:solidFill>
              </a:rPr>
              <a:t>GitHub 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55C5E1-B546-44CE-9B82-4827766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Test · scan · push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68F240-307F-435F-AFB0-A4CD56D9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2F6E11-A364-46BA-AAFC-2BE8B359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B689CF-4DFC-4D57-AA01-21DDFDAA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15EA86-E23C-42EF-B3E3-7829D77F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34D399"/>
                </a:solidFill>
              </a:defRPr>
            </a:pPr>
            <a:r>
              <a:rPr sz="1200" b="1" i="0">
                <a:solidFill>
                  <a:srgbClr val="34D399"/>
                </a:solidFill>
              </a:rPr>
              <a:t>Helm + EKS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93F784-E06A-4B44-BD74-12B253CB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Declarative runtime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0816C0-09B6-43B6-9C64-C770F62B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81325"/>
            <a:ext cx="133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8FE72A-0958-4642-A54B-0E51851F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92417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3B784-A9C5-4E27-BC3A-CE89F2AB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24100"/>
            <a:ext cx="1352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1D6911-1C8D-4036-91DF-57F2DA47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62225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FBBF24"/>
                </a:solidFill>
              </a:defRPr>
            </a:pPr>
            <a:r>
              <a:rPr sz="1200" b="1" i="0">
                <a:solidFill>
                  <a:srgbClr val="FBBF24"/>
                </a:solidFill>
              </a:rPr>
              <a:t>Prometheus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4D3A13-E645-4E8B-A537-0966770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009900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0" i="0">
                <a:solidFill>
                  <a:srgbClr val="AAB2CF"/>
                </a:solidFill>
              </a:defRPr>
            </a:pPr>
            <a:r>
              <a:rPr sz="900" b="0" i="0">
                <a:solidFill>
                  <a:srgbClr val="AAB2CF"/>
                </a:solidFill>
              </a:rPr>
              <a:t>Operational 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F490C9-A337-44F1-9F79-DB84D242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Build once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828D77-DBB3-4C62-A57D-2549B0E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Immutable images are tagged with the commit SHA, scanned, and promoted through Helm values.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7FC97F-A7EA-41DC-9C74-84AE78CA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Operate safely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F2A430-FB83-49F6-BE0F-D7717C9F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Non-root workloads, health probes, resource limits, ingress routing, and autoscaling are encoded—not remembered.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7BB9F6-3F4E-42AC-9ED4-043DBCD9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0671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6F7FB"/>
                </a:solidFill>
              </a:defRPr>
            </a:pPr>
            <a:r>
              <a:rPr sz="1350" b="1" i="0">
                <a:solidFill>
                  <a:srgbClr val="F6F7FB"/>
                </a:solidFill>
              </a:rPr>
              <a:t>Close the loop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314E21-CA59-49C0-99C3-894E7117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19600"/>
            <a:ext cx="3086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AAB2CF"/>
                </a:solidFill>
              </a:defRPr>
            </a:pPr>
            <a:r>
              <a:rPr sz="1050" b="0" i="0">
                <a:solidFill>
                  <a:srgbClr val="AAB2CF"/>
                </a:solidFill>
              </a:rPr>
              <a:t>Prometheus scrapes the API; Grafana turns request behavior into a live operational signal.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6D547F-D244-4935-A763-6D9573A4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E6A7D8-0F91-46CF-9BBF-672A853E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260757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1FC7B4-885B-43D1-9DCE-344BEA4C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03 ·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C9D2E-885A-4C8E-9508-0034B5FF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API is observable—and exercised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3BB4A-A652-400C-BDCB-A07CFBC1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Release CRUD, aggregate statistics, health, readiness, and Prometheus metrics are built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F0674-D873-4800-89F4-7B381719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10D65-4E30-4D60-BFB9-5587A2C34E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839088bdf4980"/>
          <a:stretch xmlns:a="http://schemas.openxmlformats.org/drawingml/2006/main"/>
        </p:blipFill>
        <p:spPr>
          <a:xfrm xmlns:a="http://schemas.openxmlformats.org/drawingml/2006/main">
            <a:off x="609600" y="2010536"/>
            <a:ext cx="6715125" cy="3894203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E638D-7F9B-4684-8A10-6BF32BC0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CA46F-1CBB-46F1-80FF-7B997400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9/9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0586F-FDD9-4265-A631-BB7EF3D2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PYTEST CASES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607DB-6465-46AA-B923-3DE725B0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85950"/>
            <a:ext cx="1714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021D8-776A-4224-85B7-1C01FC69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288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22D3EE"/>
                </a:solidFill>
              </a:defRPr>
            </a:pPr>
            <a:r>
              <a:rPr sz="2100" b="1" i="0">
                <a:solidFill>
                  <a:srgbClr val="22D3EE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50CA0-CFE3-48C1-A77B-0119E54E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4792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RUFF ERRORS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E00C0-74C2-4BED-869D-25DA17FA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5C76-9FD3-406A-9CB9-DE0344CE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242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Behavior, not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45F62-10C9-497A-831A-097A7779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Create, validate, list, fetch, update, delete, stats, health, and readiness paths are covered.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E93E15-694F-4E23-8CB0-5865E6E4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19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720CB-809D-49AA-8DF3-470BA7B1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7195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Isolated test 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BCC892-D057-4920-9374-467FD000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Each test suite overrides the database dependency with an in-memory SQLite engine.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92EF60-4ECC-4EDB-A156-7583F82A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67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C11AE-2045-4327-9C3D-AA54C2AD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9700"/>
            <a:ext cx="331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Machine-readable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77271-1DA4-4992-9AE4-B0777FFF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Swagger documents every endpoint and schema directly from the running application.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35FC0E-FAA2-461C-BFFF-12B1B163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1633CB-7652-4B23-8D97-E26629F0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9453877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B12833-430D-4980-B5F8-D4753BBB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04 ·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CC464-1D99-4671-950F-8FF317DB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Reproducible locally; gated in CI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C05D2-98AE-4EDB-81A9-43E7F471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Compose proves the full stack. GitHub Actions enforces tests, builds, vulnerability policy, and immutable image tags.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C4AFE-9E0D-4549-88F5-B41142BC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A7437-6F6C-417A-9C0F-8555A0FA5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5cb9704d54afd"/>
          <a:stretch xmlns:a="http://schemas.openxmlformats.org/drawingml/2006/main"/>
        </p:blipFill>
        <p:spPr>
          <a:xfrm xmlns:a="http://schemas.openxmlformats.org/drawingml/2006/main">
            <a:off x="609600" y="2294775"/>
            <a:ext cx="5715000" cy="324000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99AED-48FE-49C3-A63E-56CFD880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5F6F5-8AA9-49A3-8926-A9161FA2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526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0F9BB4-1624-4BFD-AAA0-628CBC77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DAD6B-73D0-4D68-BECF-0B4E0B9C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0955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pytest · Ruff · npm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57DE1-DDEF-4CC5-9735-BE7A3A9F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574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7B9D5-A25D-4BED-9FC5-E5B2C82E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051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36B80-7510-4144-A41D-2490A13A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717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D36C3-4B8A-4F73-B1A4-A97EF30F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628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3A8B2-DEB5-41EA-91E3-10582C20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9146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backend + frontend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E32E09-9F74-4E2F-BE5F-9DDFFCB2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765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3DB6D-D8CC-43B6-BE73-17942334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242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BF24">
              <a:alpha val="13333"/>
            </a:srgbClr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1A5D7-5DE3-4CBB-BE25-EC1D69E3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FBBF24"/>
                </a:solidFill>
              </a:defRPr>
            </a:pPr>
            <a:r>
              <a:rPr sz="900" b="1" i="0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B5968-BE3D-49E7-8BA4-2255B859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448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E71D3B-8E77-42B7-A8C7-3C57AE1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7338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Trivy HIGH/CRITICAL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CC4A6-8664-40B2-BA59-2E8599E8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9572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9474E4-42B6-43BF-877E-67383A7F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4340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573E10-1D81-4598-974F-38D932F3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0AF7CC-0FB9-406F-AAAC-FB23B999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267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4A6CCB-EDD1-48E0-B300-7B85116A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55295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GHCR · commit SHA tags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14E791-E674-4EB8-B8D6-618AF3E5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14875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4F065C-BE8F-4756-9A63-FCF9AF51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62550"/>
            <a:ext cx="476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>
              <a:alpha val="13333"/>
            </a:srgbClr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695696-CA4B-4903-92CE-0735378A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29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8B5CF6"/>
                </a:solidFill>
              </a:defRPr>
            </a:pPr>
            <a:r>
              <a:rPr sz="900" b="1" i="0">
                <a:solidFill>
                  <a:srgbClr val="8B5CF6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7FA368-6D7F-4C11-909A-E74C5411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086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Deploy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78FD38-1B40-4B83-8BD5-486EF231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5372100"/>
            <a:ext cx="3562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Helm when kubeconfig exists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1AEF4C-5D12-4836-BBDE-2E22B58A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9C20E6-F9A0-49F1-8F2C-3E49FC1A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4879697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D78EF0-6CF0-4D46-8555-D0D41521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05 · INFRASTRUCTURE AS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E9F88-F354-47EA-9910-525D1E5D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AWS architecture is explicit before it is expensive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6AC8F-C94A-4366-A6D7-C3098FFD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Terraform defines a two-AZ VPC, private worker subnets, NAT egress, and a two-node managed EKS group.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D9EFE-2846-47F3-9338-37DACDE1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6E61E-715B-45F9-B2E9-124034A2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86625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E79C3-35B6-4F5F-8CD2-1D2EF81D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22D3EE"/>
                </a:solidFill>
              </a:defRPr>
            </a:pPr>
            <a:r>
              <a:rPr sz="1200" b="1" i="0">
                <a:solidFill>
                  <a:srgbClr val="22D3EE"/>
                </a:solidFill>
              </a:rPr>
              <a:t>AWS VPC · 10.0.0.0/16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74440-162B-4768-87CC-740917F7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30670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C958AC-4897-4732-A167-239AE8E5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194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Availability Zone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277CA6-CFFE-4C1E-8B51-79DCDB09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38500"/>
            <a:ext cx="1238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D334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03091-68B9-40CB-B4C6-9297939C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766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Public subnet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1607D-00BC-4184-AC73-7EEC39BE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1238250" cy="14287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02047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0C3CD-E664-4C7F-BE35-CB8B0E24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766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8B5CF6"/>
                </a:solidFill>
              </a:defRPr>
            </a:pPr>
            <a:r>
              <a:rPr sz="975" b="1" i="0">
                <a:solidFill>
                  <a:srgbClr val="8B5CF6"/>
                </a:solidFill>
              </a:rPr>
              <a:t>Private subnet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29F18A-1DD4-4B1E-B294-C21AB9D2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94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6F7FB"/>
                </a:solidFill>
              </a:defRPr>
            </a:pPr>
            <a:r>
              <a:rPr sz="975" b="1" i="0">
                <a:solidFill>
                  <a:srgbClr val="F6F7FB"/>
                </a:solidFill>
              </a:rPr>
              <a:t>EKS 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FAC3A-0ECD-4E15-99C1-D7B872A3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1910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82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825" b="0" i="0">
                <a:solidFill>
                  <a:srgbClr val="AAB2CF"/>
                </a:solidFill>
              </a:defRPr>
            </a:pPr>
            <a:r>
              <a:rPr sz="825" b="0" i="0">
                <a:solidFill>
                  <a:srgbClr val="AAB2CF"/>
                </a:solidFill>
              </a:rPr>
              <a:t>managed node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A265E-52B3-4F57-BB39-484E3312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6195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9537B-03A4-4D2A-8B33-18CDC33B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5623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D3F34E-031A-4F59-8B37-72CF727B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628900"/>
            <a:ext cx="306705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5D7F4D-B8F8-4D27-9862-E6E18904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8194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Availability Zone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FAB928-F36C-4711-B391-E5C344AC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38500"/>
            <a:ext cx="1238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D334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93486-B401-4093-987F-E246E59E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4766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Public subnet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4932B4-A139-413C-A36B-7872593D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238500"/>
            <a:ext cx="1238250" cy="14287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202047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A61531-B6A7-4E1D-945E-85460CF3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4766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8B5CF6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8B5CF6"/>
                </a:solidFill>
              </a:defRPr>
            </a:pPr>
            <a:r>
              <a:rPr sz="975" b="1" i="0">
                <a:solidFill>
                  <a:srgbClr val="8B5CF6"/>
                </a:solidFill>
              </a:rPr>
              <a:t>Private subnet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AD9A2-E6C1-494E-AFAC-700EC22D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7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ctr">
              <a:defRPr sz="975" b="1" i="0">
                <a:solidFill>
                  <a:srgbClr val="F6F7FB"/>
                </a:solidFill>
              </a:defRPr>
            </a:pPr>
            <a:r>
              <a:rPr sz="975" b="1" i="0">
                <a:solidFill>
                  <a:srgbClr val="F6F7FB"/>
                </a:solidFill>
              </a:rPr>
              <a:t>EKS worker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FCC224-8A46-4ACA-964C-8E5DEF5A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910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82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825" b="0" i="0">
                <a:solidFill>
                  <a:srgbClr val="AAB2CF"/>
                </a:solidFill>
              </a:defRPr>
            </a:pPr>
            <a:r>
              <a:rPr sz="825" b="0" i="0">
                <a:solidFill>
                  <a:srgbClr val="AAB2CF"/>
                </a:solidFill>
              </a:rPr>
              <a:t>managed node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BB87F-3998-4D68-B82C-605594BB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6195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314A6E-3356-4035-A03B-97465D83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623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4F50E9-5981-4EE6-B998-C8C4817F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054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Internet Gateway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A194C1-CE44-43E9-84FE-4A40293D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5054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NAT egress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472E16-2094-43AA-B46C-671DFA99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2857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A965D4-586B-47A6-82B6-1A704965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51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VALID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285104-931D-474F-8EFC-9A55694B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1460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TERRAFORM VALIDATE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3107C0-AAE4-418D-BE4F-0E71FAEA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48371E-01EE-4079-A953-33FD0556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Two availability zones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832E89-301B-4409-8F9E-264584C9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90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Public and private subnet pairs are generated from the selected AWS region.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DC5E80-C9A4-4A25-B098-BDDF3A24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83595-DCCC-4C86-BA58-22290910F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Production defaults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7581ED-D081-4EAC-A06A-A039CD26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Private workers, managed nodes, Kubernetes 1.36, and module/provider constraints are versioned.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68D33B-A788-43A9-AB22-2F2E2725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95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7D42D9-0480-46D1-BFDD-CEF694B8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482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Credential-safe 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6A8872-B138-497C-8A0C-BE009A2B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959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Plan/apply are intentionally pending valid AWS credentials; no cloud result is fabricated.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14EDC6-BE5C-4C48-ADF0-BF1DE740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CDAF77-9AC0-4C62-8A68-2FB09E4B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3570513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74CC1-F4B3-4AB7-AAEB-D07DEB73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06 · KUBERNETES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312E1-AE72-4C35-B751-96C06E7B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The Helm release is running—not hypothetical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822FA-1552-4EF0-9AD0-98E1EB8D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A local kind cluster verifies the chart, services, ingress routing, probes, and multi-replica workloads.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0A89-9151-4E8E-85A3-E30C018F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A73FF-8EB9-48AB-9A9B-2A01757818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4e27d014648c4"/>
          <a:stretch xmlns:a="http://schemas.openxmlformats.org/drawingml/2006/main"/>
        </p:blipFill>
        <p:spPr>
          <a:xfrm xmlns:a="http://schemas.openxmlformats.org/drawingml/2006/main">
            <a:off x="609600" y="1881491"/>
            <a:ext cx="7143750" cy="4142769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FC16FD-0F90-4959-B92D-56FB0125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24050"/>
            <a:ext cx="31051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81D34"/>
          </a:solidFill>
          <a:ln xmlns:a="http://schemas.openxmlformats.org/drawingml/2006/main" w="9525">
            <a:solidFill>
              <a:srgbClr val="2D36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0CAEC-36A8-4CD3-B629-FC838E6D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669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34D399"/>
                </a:solidFill>
              </a:defRPr>
            </a:pPr>
            <a:r>
              <a:rPr sz="2100" b="1" i="0">
                <a:solidFill>
                  <a:srgbClr val="34D399"/>
                </a:solidFill>
              </a:rPr>
              <a:t>2 + 2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B209D-A283-43C7-94A9-6C5BD3B1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86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BACKEND + FRONTEND PODS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F464E-6E50-4C13-956C-21FA0361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F6265-2C7E-4755-ACEA-AF00127A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ClusterIP by default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68473-7686-4BB5-8B96-BA986DC7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Frontend, backend, and PostgreSQL stay internal; ingress is the controlled entry point.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00191-B616-46CB-81EA-2A5851A9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solidFill>
              <a:srgbClr val="8B5C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9040B-F168-4734-AC24-804C9308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Environment overlays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4C74A0-18B5-40CB-97AD-8F8BC126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9580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Base, development, and production values separate resource and scaling choices.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10500E-DD10-496E-8F85-8D05BC01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43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80FD74-9CB2-4CDB-8ABA-26803456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95900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Operational safeguards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87BF23-EA77-43B7-99A3-9C007FBE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43550"/>
            <a:ext cx="283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Readiness/liveness probes, resource requests and limits, security contexts, and HPA are templated.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597BA7-B29A-41DC-81B1-DC67CCEE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8ED57-B900-40A9-9730-92254614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21418732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120D8-B199-4C55-A5FD-DC07D6A1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07 · OBSERVABILITY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BDCD4-E8E5-4791-9D66-50AF5A1B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Telemetry closes the delivery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35693-6808-4448-BB1A-A8C0257C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ServiceMonitor discovery proves scrape health; a controlled load test produces visible request-rate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2C7C2-0846-4D03-A951-08987939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1BB32-9E07-4FB1-A03C-6FDDE11362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918e4e8a94b08"/>
          <a:stretch xmlns:a="http://schemas.openxmlformats.org/drawingml/2006/main"/>
        </p:blipFill>
        <p:spPr>
          <a:xfrm xmlns:a="http://schemas.openxmlformats.org/drawingml/2006/main">
            <a:off x="609600" y="2232400"/>
            <a:ext cx="5095875" cy="2955175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334A1-7C7B-4857-B57F-900DF8A889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83496e3d74250"/>
          <a:stretch xmlns:a="http://schemas.openxmlformats.org/drawingml/2006/main"/>
        </p:blipFill>
        <p:spPr>
          <a:xfrm xmlns:a="http://schemas.openxmlformats.org/drawingml/2006/main">
            <a:off x="5953125" y="2077737"/>
            <a:ext cx="5629275" cy="3264502"/>
          </a:xfrm>
          <a:prstGeom xmlns:a="http://schemas.openxmlformats.org/drawingml/2006/main" prst="roundRect">
            <a:avLst>
              <a:gd name="adj" fmla="val 30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042AD-30EF-4B8E-9CF5-736009D9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714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>
              <a:alpha val="13333"/>
            </a:srgbClr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8A6AD-8A9E-4E07-9753-0F4FEF13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76925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34D399"/>
                </a:solidFill>
              </a:defRPr>
            </a:pPr>
            <a:r>
              <a:rPr sz="900" b="1" i="0">
                <a:solidFill>
                  <a:srgbClr val="34D399"/>
                </a:solidFill>
              </a:rPr>
              <a:t>2 / 2 TARGETS 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68DD0-EB19-4E73-BD3E-2B3EB610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8197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Prometheus discovers both API replicas through the chart’s ServiceMonitor.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ED4D5-594A-42D6-9F8D-078E8B40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810250"/>
            <a:ext cx="15716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>
              <a:alpha val="13333"/>
            </a:srgbClr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9A4033-2885-4354-AE25-E4D162FF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76925"/>
            <a:ext cx="1381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604 REQUESTS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B74AD-CE9F-47CC-ABCD-B1BE5748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8197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Grafana captured the generated traffic spike and 15-minute request count.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A31B6-9E56-480F-B534-C73B6112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4B409-F1E8-408B-9A04-1156564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DEVOPS CAPSTONE</a:t>
            </a:r>
          </a:p>
        </p:txBody>
      </p:sp>
    </p:spTree>
    <p:extLst>
      <p:ext uri="{BB962C8B-B14F-4D97-AF65-F5344CB8AC3E}">
        <p14:creationId xmlns:p14="http://schemas.microsoft.com/office/powerpoint/2010/main" val="16849643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BBF530-F00E-4BFB-B8F3-05F7440C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2D3EE"/>
                </a:solidFill>
              </a:defRPr>
            </a:pPr>
            <a:r>
              <a:rPr sz="900" b="1" i="0">
                <a:solidFill>
                  <a:srgbClr val="22D3EE"/>
                </a:solidFill>
              </a:rPr>
              <a:t>08 · HANDOFF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5EFC5B-BACD-494C-B520-DA2F1959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6F7FB"/>
                </a:solidFill>
              </a:defRPr>
            </a:pPr>
            <a:r>
              <a:rPr sz="2550" b="1" i="0">
                <a:solidFill>
                  <a:srgbClr val="F6F7FB"/>
                </a:solidFill>
              </a:rPr>
              <a:t>Submission-ready locally; two external proofs remain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F7DED-DEFC-4D1D-A16B-ED86FFFA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AAB2CF"/>
                </a:solidFill>
              </a:defRPr>
            </a:pPr>
            <a:r>
              <a:rPr sz="1200" b="0" i="0">
                <a:solidFill>
                  <a:srgbClr val="AAB2CF"/>
                </a:solidFill>
              </a:rPr>
              <a:t>Everything that can be verified without account authority is implemented, running, and evidenced.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5D722-DC45-45D0-BAE6-ADDAA291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AAB2CF"/>
                </a:solidFill>
              </a:defRPr>
            </a:pPr>
            <a:r>
              <a:rPr sz="900" b="1" i="0">
                <a:solidFill>
                  <a:srgbClr val="AAB2CF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FE2A7-F394-460E-8CA3-CD6CC40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0101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6A25-8B44-4640-A656-43030D09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34D399"/>
                </a:solidFill>
              </a:defRPr>
            </a:pPr>
            <a:r>
              <a:rPr sz="1800" b="1" i="0">
                <a:solidFill>
                  <a:srgbClr val="34D399"/>
                </a:solidFill>
              </a:rPr>
              <a:t>Verified 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43FA23-0F80-4154-B0AD-0C4805C5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A9F2E-1ACA-45B6-B07E-42C0BAD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9 backend tests + Ruff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EDB15D-4377-4641-986E-A94F4BFF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0855E-8A90-4C0E-B16A-FEE59709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Frontend build + npm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F58A1-D5EC-4CD7-BCD7-1450D5FD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9FB81-4368-4517-B996-5B5A75CD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480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Hardened Docker Compose 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A7F26-5C1F-451F-BA73-BBF1AE83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326E1B-6B30-47C3-964E-BE222738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Helm lint + live kind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5F161-486D-458F-BE67-A47DAB54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278F7-3F7D-4CF6-B518-60CBFF80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Prometheus targets + Grafana load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99458-79A2-4938-8F13-0DA2CC34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95E7A2-EE94-4C14-AC80-92DAE73C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4820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Terraform init + 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1D606-DB44-4F0A-8B11-3E317862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34D399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34D399"/>
                </a:solidFill>
              </a:defRPr>
            </a:pPr>
            <a:r>
              <a:rPr sz="1125" b="1" i="0">
                <a:solidFill>
                  <a:srgbClr val="34D399"/>
                </a:solidFill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81EFD0-7191-429F-AC66-33248040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6F7FB"/>
                </a:solidFill>
              </a:defRPr>
            </a:pPr>
            <a:r>
              <a:rPr sz="1050" b="0" i="0">
                <a:solidFill>
                  <a:srgbClr val="F6F7FB"/>
                </a:solidFill>
              </a:rPr>
              <a:t>Real screenshots + operator runbook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F76CF-819C-434F-A419-B16BD54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5619750" cy="3876675"/>
          </a:xfrm>
          <a:prstGeom xmlns:a="http://schemas.openxmlformats.org/drawingml/2006/main" prst="roundRect">
            <a:avLst>
              <a:gd name="adj" fmla="val 3931"/>
            </a:avLst>
          </a:prstGeom>
          <a:solidFill xmlns:a="http://schemas.openxmlformats.org/drawingml/2006/main">
            <a:srgbClr val="12172A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990C8A-C8BF-49C0-8CBA-84A16C4A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BBF24"/>
                </a:solidFill>
              </a:defRPr>
            </a:pPr>
            <a:r>
              <a:rPr sz="1800" b="1" i="0">
                <a:solidFill>
                  <a:srgbClr val="FBBF24"/>
                </a:solidFill>
              </a:rPr>
              <a:t>Complete with account access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C9691F-01B4-4C09-9EB9-A9C00CA7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9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159568-858E-4853-9B88-0AB974D1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Push to your GitHub repository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11F388-960F-47C2-BF2B-DAD7520A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This unlocks commit-history, Actions-run, and GHCR screenshot evidence under your identity.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256B67-4103-40EE-83E7-B78B9238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54E438-0A40-4D83-ABFA-653A256F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57625"/>
            <a:ext cx="46005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6F7FB"/>
                </a:solidFill>
              </a:defRPr>
            </a:pPr>
            <a:r>
              <a:rPr sz="1125" b="1" i="0">
                <a:solidFill>
                  <a:srgbClr val="F6F7FB"/>
                </a:solidFill>
              </a:rPr>
              <a:t>Refresh AWS credentials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90E0C2-F06E-4F15-B52E-794F770E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05275"/>
            <a:ext cx="4600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0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AAB2CF"/>
                </a:solidFill>
              </a:defRPr>
            </a:pPr>
            <a:r>
              <a:rPr sz="975" b="0" i="0">
                <a:solidFill>
                  <a:srgbClr val="AAB2CF"/>
                </a:solidFill>
              </a:rPr>
              <a:t>Run terraform plan/apply, capture EKS/nodes/load balancer proof, then destroy to avoid charges.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BB2442-79E9-41B8-B4A4-7165ACBC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007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22D3EE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2D3EE"/>
                </a:solidFill>
              </a:defRPr>
            </a:pPr>
            <a:r>
              <a:rPr sz="975" b="1" i="0">
                <a:solidFill>
                  <a:srgbClr val="22D3EE"/>
                </a:solidFill>
              </a:rPr>
              <a:t>Recommended demo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EE1BCF-30E3-4818-8D64-5B1C205E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981700"/>
            <a:ext cx="771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6F7FB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6F7FB"/>
                </a:solidFill>
              </a:defRPr>
            </a:pPr>
            <a:r>
              <a:rPr sz="1200" b="1" i="0">
                <a:solidFill>
                  <a:srgbClr val="F6F7FB"/>
                </a:solidFill>
              </a:rPr>
              <a:t>Create release → update status → call API → generate load → watch Grafana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03215B-F270-48AF-84A7-8B1C4F23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658"/>
          </a:solidFill>
          <a:ln xmlns:a="http://schemas.openxmlformats.org/drawingml/2006/main" w="0">
            <a:solidFill>
              <a:srgbClr val="2D36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4BA665-ED62-4FC4-8673-00B19E5A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4762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AAB2CF"/>
                </a:solidFill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AAB2CF"/>
                </a:solidFill>
              </a:defRPr>
            </a:pPr>
            <a:r>
              <a:rPr sz="675" b="1" i="0">
                <a:solidFill>
                  <a:srgbClr val="AAB2CF"/>
                </a:solidFill>
              </a:rPr>
              <a:t>DEPLOYFLOW · READY FOR FINAL ACCOUNT-BOUND EVIDENCE</a:t>
            </a:r>
          </a:p>
        </p:txBody>
      </p:sp>
    </p:spTree>
    <p:extLst>
      <p:ext uri="{BB962C8B-B14F-4D97-AF65-F5344CB8AC3E}">
        <p14:creationId xmlns:p14="http://schemas.microsoft.com/office/powerpoint/2010/main" val="17006243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2026-10-16T11:28:56.0730000Z</dcterms:created>
  <dcterms:modified xsi:type="dcterms:W3CDTF">2026-10-16T11:28:56.0730000Z</dcterms:modified>
</coreProperties>
</file>
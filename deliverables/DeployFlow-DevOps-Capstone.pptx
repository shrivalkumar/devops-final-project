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5154d179b6465d" /><Relationship Type="http://schemas.openxmlformats.org/officeDocument/2006/relationships/extended-properties" Target="/docProps/app.xml" Id="R2efbbd7cc9434817" /><Relationship Type="http://schemas.openxmlformats.org/officeDocument/2006/relationships/officeDocument" Target="/ppt/presentation.xml" Id="R4c32c0c5204a46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27d5e75ab147f9"/>
  </p:sldMasterIdLst>
  <p:notesMasterIdLst>
    <p:notesMasterId xmlns:r="http://schemas.openxmlformats.org/officeDocument/2006/relationships" r:id="Re7d580a91fd84c99"/>
  </p:notesMasterIdLst>
  <p:sldIdLst>
    <p:sldId xmlns:r="http://schemas.openxmlformats.org/officeDocument/2006/relationships" id="256" r:id="Rccc83d7ffcbd4b09"/>
    <p:sldId xmlns:r="http://schemas.openxmlformats.org/officeDocument/2006/relationships" id="257" r:id="R0e720eed54084692"/>
    <p:sldId xmlns:r="http://schemas.openxmlformats.org/officeDocument/2006/relationships" id="258" r:id="Rf2a3049c11e0496e"/>
    <p:sldId xmlns:r="http://schemas.openxmlformats.org/officeDocument/2006/relationships" id="259" r:id="R409c4a1732724c77"/>
    <p:sldId xmlns:r="http://schemas.openxmlformats.org/officeDocument/2006/relationships" id="260" r:id="Rccc7d452e9ea46a7"/>
    <p:sldId xmlns:r="http://schemas.openxmlformats.org/officeDocument/2006/relationships" id="261" r:id="Rfb1e1da103384968"/>
    <p:sldId xmlns:r="http://schemas.openxmlformats.org/officeDocument/2006/relationships" id="262" r:id="R0132724504fc4e37"/>
    <p:sldId xmlns:r="http://schemas.openxmlformats.org/officeDocument/2006/relationships" id="263" r:id="Rf86f181cd70f43b6"/>
    <p:sldId xmlns:r="http://schemas.openxmlformats.org/officeDocument/2006/relationships" id="264" r:id="R0d888784916b43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1803d6013784aa9" /><Relationship Type="http://schemas.openxmlformats.org/officeDocument/2006/relationships/slideMaster" Target="/ppt/slideMasters/slideMaster1.xml" Id="R2227d5e75ab147f9" /><Relationship Type="http://schemas.openxmlformats.org/officeDocument/2006/relationships/notesMaster" Target="/ppt/notesMasters/notesMaster1.xml" Id="Re7d580a91fd84c99" /><Relationship Type="http://schemas.openxmlformats.org/officeDocument/2006/relationships/presProps" Target="/ppt/presProps.xml" Id="Ra3f21214f107428c" /><Relationship Type="http://schemas.openxmlformats.org/officeDocument/2006/relationships/tableStyles" Target="/ppt/tableStyles.xml" Id="Ra9311753f1364907" /><Relationship Type="http://schemas.openxmlformats.org/officeDocument/2006/relationships/slide" Target="/ppt/slides/slide1.xml" Id="Rccc83d7ffcbd4b09" /><Relationship Type="http://schemas.openxmlformats.org/officeDocument/2006/relationships/slide" Target="/ppt/slides/slide2.xml" Id="R0e720eed54084692" /><Relationship Type="http://schemas.openxmlformats.org/officeDocument/2006/relationships/slide" Target="/ppt/slides/slide3.xml" Id="Rf2a3049c11e0496e" /><Relationship Type="http://schemas.openxmlformats.org/officeDocument/2006/relationships/slide" Target="/ppt/slides/slide4.xml" Id="R409c4a1732724c77" /><Relationship Type="http://schemas.openxmlformats.org/officeDocument/2006/relationships/slide" Target="/ppt/slides/slide5.xml" Id="Rccc7d452e9ea46a7" /><Relationship Type="http://schemas.openxmlformats.org/officeDocument/2006/relationships/slide" Target="/ppt/slides/slide6.xml" Id="Rfb1e1da103384968" /><Relationship Type="http://schemas.openxmlformats.org/officeDocument/2006/relationships/slide" Target="/ppt/slides/slide7.xml" Id="R0132724504fc4e37" /><Relationship Type="http://schemas.openxmlformats.org/officeDocument/2006/relationships/slide" Target="/ppt/slides/slide8.xml" Id="Rf86f181cd70f43b6" /><Relationship Type="http://schemas.openxmlformats.org/officeDocument/2006/relationships/slide" Target="/ppt/slides/slide9.xml" Id="R0d888784916b43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ed2845e4c742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857f7085e04d74" /><Relationship Type="http://schemas.openxmlformats.org/officeDocument/2006/relationships/notesMaster" Target="/ppt/notesMasters/notesMaster1.xml" Id="R7cfbe0a42b4740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67a77aa2394879" /><Relationship Type="http://schemas.openxmlformats.org/officeDocument/2006/relationships/notesMaster" Target="/ppt/notesMasters/notesMaster1.xml" Id="R267e7fc7dcfa47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1849972fb241f6" /><Relationship Type="http://schemas.openxmlformats.org/officeDocument/2006/relationships/notesMaster" Target="/ppt/notesMasters/notesMaster1.xml" Id="Ra1666472e20247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4d3c5f018d41e4" /><Relationship Type="http://schemas.openxmlformats.org/officeDocument/2006/relationships/notesMaster" Target="/ppt/notesMasters/notesMaster1.xml" Id="R22d6a4eaddc74b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a04837e4ca4213" /><Relationship Type="http://schemas.openxmlformats.org/officeDocument/2006/relationships/notesMaster" Target="/ppt/notesMasters/notesMaster1.xml" Id="R3c795ce15d434a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3966209cdc43e0" /><Relationship Type="http://schemas.openxmlformats.org/officeDocument/2006/relationships/notesMaster" Target="/ppt/notesMasters/notesMaster1.xml" Id="R19d2e42547a74f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b445ae49a943d0" /><Relationship Type="http://schemas.openxmlformats.org/officeDocument/2006/relationships/notesMaster" Target="/ppt/notesMasters/notesMaster1.xml" Id="R0cfab70759244e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aba42a0b264273" /><Relationship Type="http://schemas.openxmlformats.org/officeDocument/2006/relationships/notesMaster" Target="/ppt/notesMasters/notesMaster1.xml" Id="R1adce4201886475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e4cbefc63b46a6" /><Relationship Type="http://schemas.openxmlformats.org/officeDocument/2006/relationships/notesMaster" Target="/ppt/notesMasters/notesMaster1.xml" Id="R114ddc173a6747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product: DeployFlow gives a team one place to plan, promote, and observe service releases.</a:t>
            </a:r>
          </a:p>
          <a:p xmlns:a="http://schemas.openxmlformats.org/drawingml/2006/main">
            <a:r>
              <a:t>Explain that every screenshot in this deck was captured from the working local system.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creating a deployment, then update its status.</a:t>
            </a:r>
          </a:p>
          <a:p xmlns:a="http://schemas.openxmlformats.org/drawingml/2006/main">
            <a:r>
              <a:t>The domain and interface were redesigned from the starter material to avoid a copy-only submission.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interface, API, database, container build, CI, cluster release, monitoring.</a:t>
            </a:r>
          </a:p>
          <a:p xmlns:a="http://schemas.openxmlformats.org/drawingml/2006/main">
            <a:r>
              <a:t>All runtime layers are represented by checked-in configuration.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pytest -v during the live demo if time allows.</a:t>
            </a:r>
          </a:p>
          <a:p xmlns:a="http://schemas.openxmlformats.org/drawingml/2006/main">
            <a:r>
              <a:t>Point out the /health, /ready, and /metrics endpoints that support operations.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containers run as non-root users and expose explicit health checks.</a:t>
            </a:r>
          </a:p>
          <a:p xmlns:a="http://schemas.openxmlformats.org/drawingml/2006/main">
            <a:r>
              <a:t>The Trivy action is pinned to an immutable action commit and fails on HIGH or CRITICAL findings.</a:t>
            </a:r>
          </a:p>
          <a:p xmlns:a="http://schemas.openxmlformats.org/drawingml/2006/main">
            <a:r>
              <a:t>GitHub-hosted run proof requires pushing this local repository to the student's own destination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an actual AWS Console screenshot from ap-south-1.</a:t>
            </a:r>
          </a:p>
          <a:p xmlns:a="http://schemas.openxmlformats.org/drawingml/2006/main">
            <a:r>
              <a:t>Terraform planned 56 resources and applied the VPC, EKS control plane, and two-node managed group.</a:t>
            </a:r>
          </a:p>
          <a:p xmlns:a="http://schemas.openxmlformats.org/drawingml/2006/main">
            <a:r>
              <a:t>The complete destroy was captured after the live demonstration to prevent ongoing costs.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screenshot is the application running behind the EKS ingress controller.</a:t>
            </a:r>
          </a:p>
          <a:p xmlns:a="http://schemas.openxmlformats.org/drawingml/2006/main">
            <a:r>
              <a:t>The terminal evidence shows both frontend and backend replicas distributed across the two workers.</a:t>
            </a:r>
          </a:p>
          <a:p xmlns:a="http://schemas.openxmlformats.org/drawingml/2006/main">
            <a:r>
              <a:t>The same chart was also validated locally on kind.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actual screenshots from the running local monitoring stack.</a:t>
            </a:r>
          </a:p>
          <a:p xmlns:a="http://schemas.openxmlformats.org/drawingml/2006/main">
            <a:r>
              <a:t>The load generator issues repeat API requests so the graph has a clear, verifiable signal.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live demo path.</a:t>
            </a:r>
          </a:p>
          <a:p xmlns:a="http://schemas.openxmlformats.org/drawingml/2006/main">
            <a:r>
              <a:t>AWS plan, apply, EKS runtime, and destroy are already evidenced; the only account-bound step left is publishing to the student's GitHub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6a844d986b47d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b9e342ecaa4c0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dc238ca8b74fd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bf537e322e423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fc051d9f774a5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61db8cadf34c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F97318E-6DDD-4CFA-9096-49C0391223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7826BBE-D51F-44DC-A3C5-095AB926C4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8A1F185-DB79-4A24-AB55-138224E35C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85AC35B-320C-48AA-A126-D5797FD9E8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3F4C9E4-EA95-4CCF-918E-B104A81CCB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A184605-859E-48DA-B76F-830CAFB54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B384829-42BD-4F48-8A86-4ADE129236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C714170-E48A-4D86-8417-93D77844DB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A1C4734-80B0-434B-ACC5-D7C4EA06A0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0102BB7-D78C-4301-9860-ABE1D401B5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f68e0c2ac343ec" /><Relationship Type="http://schemas.openxmlformats.org/officeDocument/2006/relationships/slideLayout" Target="/ppt/slideLayouts/slideLayout1.xml" Id="R0fb853a7600e4c5d" /><Relationship Type="http://schemas.openxmlformats.org/officeDocument/2006/relationships/slideLayout" Target="/ppt/slideLayouts/slideLayout2.xml" Id="R953bd1bd30fd42e9" /><Relationship Type="http://schemas.openxmlformats.org/officeDocument/2006/relationships/slideLayout" Target="/ppt/slideLayouts/slideLayout3.xml" Id="Rac766c8122c4444d" /><Relationship Type="http://schemas.openxmlformats.org/officeDocument/2006/relationships/slideLayout" Target="/ppt/slideLayouts/slideLayout4.xml" Id="R0de841e55aee4606" /><Relationship Type="http://schemas.openxmlformats.org/officeDocument/2006/relationships/slideLayout" Target="/ppt/slideLayouts/slideLayout5.xml" Id="R4e69c3b67c7d413f" /><Relationship Type="http://schemas.openxmlformats.org/officeDocument/2006/relationships/slideLayout" Target="/ppt/slideLayouts/slideLayout6.xml" Id="R06bbb3b16fa44d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b853a7600e4c5d"/>
    <p:sldLayoutId xmlns:r="http://schemas.openxmlformats.org/officeDocument/2006/relationships" id="2147483650" r:id="R953bd1bd30fd42e9"/>
    <p:sldLayoutId xmlns:r="http://schemas.openxmlformats.org/officeDocument/2006/relationships" id="2147483651" r:id="Rac766c8122c4444d"/>
    <p:sldLayoutId xmlns:r="http://schemas.openxmlformats.org/officeDocument/2006/relationships" id="2147483652" r:id="R0de841e55aee4606"/>
    <p:sldLayoutId xmlns:r="http://schemas.openxmlformats.org/officeDocument/2006/relationships" id="2147483653" r:id="R4e69c3b67c7d413f"/>
    <p:sldLayoutId xmlns:r="http://schemas.openxmlformats.org/officeDocument/2006/relationships" id="2147483654" r:id="R06bbb3b16fa44d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0e7cd7995f481e" /><Relationship Type="http://schemas.openxmlformats.org/officeDocument/2006/relationships/image" Target="/ppt/media/image.jpeg" Id="R71dfac2e92f5421c" /><Relationship Type="http://schemas.openxmlformats.org/officeDocument/2006/relationships/notesSlide" Target="/ppt/notesSlides/notesSlide1.xml" Id="Ree68afd8eb3b4f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d4ae11743a40ed" /><Relationship Type="http://schemas.openxmlformats.org/officeDocument/2006/relationships/image" Target="/ppt/media/image2.jpeg" Id="R1c485c84fce8409b" /><Relationship Type="http://schemas.openxmlformats.org/officeDocument/2006/relationships/notesSlide" Target="/ppt/notesSlides/notesSlide2.xml" Id="Ra6c96a8e867a4e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252f04086544ef" /><Relationship Type="http://schemas.openxmlformats.org/officeDocument/2006/relationships/notesSlide" Target="/ppt/notesSlides/notesSlide3.xml" Id="R69fa1be489a146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6ae8b940d54761" /><Relationship Type="http://schemas.openxmlformats.org/officeDocument/2006/relationships/image" Target="/ppt/media/image3.jpeg" Id="R55dce35b27b54411" /><Relationship Type="http://schemas.openxmlformats.org/officeDocument/2006/relationships/notesSlide" Target="/ppt/notesSlides/notesSlide4.xml" Id="R50d2428ce69546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0319ebbdbd4c0b" /><Relationship Type="http://schemas.openxmlformats.org/officeDocument/2006/relationships/image" Target="/ppt/media/image4.jpeg" Id="Ra48f1b1dfa334006" /><Relationship Type="http://schemas.openxmlformats.org/officeDocument/2006/relationships/notesSlide" Target="/ppt/notesSlides/notesSlide5.xml" Id="Rd9f961b568594c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3fb14d2d414b8e" /><Relationship Type="http://schemas.openxmlformats.org/officeDocument/2006/relationships/image" Target="/ppt/media/image5.jpeg" Id="R87a9082aa344448a" /><Relationship Type="http://schemas.openxmlformats.org/officeDocument/2006/relationships/notesSlide" Target="/ppt/notesSlides/notesSlide6.xml" Id="R022e62e2a6e24e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20bbf8b5894af6" /><Relationship Type="http://schemas.openxmlformats.org/officeDocument/2006/relationships/image" Target="/ppt/media/image6.jpeg" Id="R4abc518303634135" /><Relationship Type="http://schemas.openxmlformats.org/officeDocument/2006/relationships/notesSlide" Target="/ppt/notesSlides/notesSlide7.xml" Id="R228eb03589be4e0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dc8e1f30e74635" /><Relationship Type="http://schemas.openxmlformats.org/officeDocument/2006/relationships/image" Target="/ppt/media/image7.jpeg" Id="Rc843e969b47d4d66" /><Relationship Type="http://schemas.openxmlformats.org/officeDocument/2006/relationships/image" Target="/ppt/media/image8.jpeg" Id="R11ab4c31b0c7432f" /><Relationship Type="http://schemas.openxmlformats.org/officeDocument/2006/relationships/notesSlide" Target="/ppt/notesSlides/notesSlide8.xml" Id="Re73c316a5eb844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2cde1d45e74350" /><Relationship Type="http://schemas.openxmlformats.org/officeDocument/2006/relationships/notesSlide" Target="/ppt/notesSlides/notesSlide9.xml" Id="Ra8e00c409fa34fe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ABC5DA-5BAD-4AE4-B6AB-F0875EB0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86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2D3EE"/>
                </a:solidFill>
              </a:defRPr>
            </a:pPr>
            <a:r>
              <a:rPr sz="975" b="1" i="0">
                <a:solidFill>
                  <a:srgbClr val="22D3EE"/>
                </a:solidFill>
              </a:rPr>
              <a:t>DEVOPS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11BAD6-9AB3-4A9F-BEF6-D2472FCE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43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4350" b="1" i="0">
                <a:solidFill>
                  <a:srgbClr val="F6F7FB"/>
                </a:solidFill>
              </a:defRPr>
            </a:pPr>
            <a:r>
              <a:rPr sz="4350" b="1" i="0">
                <a:solidFill>
                  <a:srgbClr val="F6F7FB"/>
                </a:solidFill>
              </a:rPr>
              <a:t>DeployFlow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8E8F87-6D02-477D-B8C7-33FCDEB6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47900"/>
            <a:ext cx="4238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800" b="0" i="0">
                <a:solidFill>
                  <a:srgbClr val="AAB2CF"/>
                </a:solidFill>
              </a:defRPr>
            </a:pPr>
            <a:r>
              <a:rPr sz="1800" b="0" i="0">
                <a:solidFill>
                  <a:srgbClr val="AAB2CF"/>
                </a:solidFill>
              </a:rPr>
              <a:t>Release operations—from commit to live metrics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0B986-B569-44EB-95AB-B93CCBC3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1028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>
              <a:alpha val="13333"/>
            </a:srgbClr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844DAF-8622-458D-93C2-793AACF6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43275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34D399"/>
                </a:solidFill>
              </a:defRPr>
            </a:pPr>
            <a:r>
              <a:rPr sz="900" b="1" i="0">
                <a:solidFill>
                  <a:srgbClr val="34D399"/>
                </a:solidFill>
              </a:rPr>
              <a:t>FASTAPI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7259AA-9CD9-49E4-B8DA-B25DD911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276600"/>
            <a:ext cx="895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>
              <a:alpha val="13333"/>
            </a:srgbClr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F78F30-70A8-4638-8C5B-846314BB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343275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REACT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5FF1FD-78AD-42D2-9DFF-510C93EB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76600"/>
            <a:ext cx="1257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973279-FD4C-47B6-B7F7-6704F996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343275"/>
            <a:ext cx="106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KUBERNETES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A43D3D-A608-4D52-910C-9DB8B854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43350"/>
            <a:ext cx="4286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6F7FB"/>
                </a:solidFill>
              </a:defRPr>
            </a:pPr>
            <a:r>
              <a:rPr sz="1350" b="0" i="0">
                <a:solidFill>
                  <a:srgbClr val="F6F7FB"/>
                </a:solidFill>
              </a:rPr>
              <a:t>A production-minded delivery system with container security, Infrastructure as Code, Helm deployment, and observable runtime behavior.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2D5F69-FEFC-42AA-8139-9612BCE4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14350"/>
            <a:ext cx="6000750" cy="552450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12172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90443E-5B7D-48F6-BEA7-477F872259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dfac2e92f5421c"/>
          <a:stretch xmlns:a="http://schemas.openxmlformats.org/drawingml/2006/main"/>
        </p:blipFill>
        <p:spPr>
          <a:xfrm xmlns:a="http://schemas.openxmlformats.org/drawingml/2006/main">
            <a:off x="5810250" y="1565333"/>
            <a:ext cx="5524500" cy="3422533"/>
          </a:xfrm>
          <a:prstGeom xmlns:a="http://schemas.openxmlformats.org/drawingml/2006/main" prst="roundRect">
            <a:avLst>
              <a:gd name="adj" fmla="val 2256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C20893-6545-40BC-BCB5-0FFE1858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Final Project · 2026</a:t>
            </a:r>
          </a:p>
        </p:txBody>
      </p:sp>
    </p:spTree>
    <p:extLst>
      <p:ext uri="{BB962C8B-B14F-4D97-AF65-F5344CB8AC3E}">
        <p14:creationId xmlns:p14="http://schemas.microsoft.com/office/powerpoint/2010/main" val="8202471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0A658B-4454-452E-B952-B85AC8E4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01 ·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215EA3-2A3E-4317-982E-F0B626CC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Release decisions need an operational home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8E450D-37B8-475C-882B-4F984D5B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DeployFlow turns scattered deployment context into a visible, auditable workflow.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728C3-F322-4FE0-81C3-54A3986D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5EDB9-116E-418B-8FED-F7DD8DC58A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485c84fce8409b"/>
          <a:stretch xmlns:a="http://schemas.openxmlformats.org/drawingml/2006/main"/>
        </p:blipFill>
        <p:spPr>
          <a:xfrm xmlns:a="http://schemas.openxmlformats.org/drawingml/2006/main">
            <a:off x="609600" y="1847594"/>
            <a:ext cx="6858000" cy="4248662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C03A9F-5A8F-4E1C-9E00-53A161FE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79D311-C879-4D92-A657-5A68B99C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47875"/>
            <a:ext cx="31718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Plan the change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EEC786-ABB4-4E4C-97B5-7B48DA02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95525"/>
            <a:ext cx="31718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Capture service, version, owner, risk, target environment, and change summary.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BE938A-2763-474F-88DF-8C0C7FB4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48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8B5CF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ACD590-BFC7-4B4D-AF2C-6F094483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0375"/>
            <a:ext cx="31718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Track execution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CCD0BE-9D97-45B7-AE43-C09761A9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48025"/>
            <a:ext cx="31718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Move a release through planned, running, succeeded, or failed states.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E3B348-A15C-4052-AB59-A84EE459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6FB435-B7AB-4C48-ABA7-EFF9A663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52875"/>
            <a:ext cx="31718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Read the room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0FA510-E75F-443A-9171-DEBDCE17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00525"/>
            <a:ext cx="31718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Live status metrics surface risk concentration and release outcomes at a glance.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29A5C4-6B10-4946-A68A-88B09B64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95875"/>
            <a:ext cx="1571625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DCEA99-59D8-40D2-AD5D-C6F8EFB5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238750"/>
            <a:ext cx="12287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22D3EE"/>
                </a:solidFill>
              </a:defRPr>
            </a:pPr>
            <a:r>
              <a:rPr sz="2100" b="1" i="0">
                <a:solidFill>
                  <a:srgbClr val="22D3EE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671F0E-4DD0-4B4F-A57E-022424C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657850"/>
            <a:ext cx="12287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RELEASE STATES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C56982-7B55-4A97-8260-5E36F077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95875"/>
            <a:ext cx="1571625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52109-C474-44BD-9A61-1B925FA9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238750"/>
            <a:ext cx="12287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34D399"/>
                </a:solidFill>
              </a:defRPr>
            </a:pPr>
            <a:r>
              <a:rPr sz="2100" b="1" i="0">
                <a:solidFill>
                  <a:srgbClr val="34D399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A05132-25B4-49C2-B730-ED2D72F5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657850"/>
            <a:ext cx="12287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ENVIRONMENTS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20D8FB-2B4F-44D3-8D43-8EB0A1EB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7E3712-7B61-4415-B7DF-85479653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6644231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87AD2A-A285-4E03-9F81-18507286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02 ·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B1A21-5AEC-468D-BC1D-3E73B18E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One delivery path, seven verifiable layers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0B444-5223-46C3-B768-894E6885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The same application moves from source checks to containers, Kubernetes, and telemetry.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1B42BF-55DC-4CD7-8DE0-E1DCD980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EBC3A5-454D-48DF-8215-F2749E31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1C7E8B-497D-4A9E-8952-D031A814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22D3EE"/>
                </a:solidFill>
              </a:defRPr>
            </a:pPr>
            <a:r>
              <a:rPr sz="1200" b="1" i="0">
                <a:solidFill>
                  <a:srgbClr val="22D3EE"/>
                </a:solidFill>
              </a:rPr>
              <a:t>React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4F8503-B355-4E11-9B3E-B613D9A8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Operator UI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DE8C4F-C35C-4E30-9DCD-274F3E4B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7B6CA2-1A02-4267-B4FE-144B8D45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23B148-7645-40C7-A043-D41B00F3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EE8E9B-CE9A-474A-9599-547C46E4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34D399"/>
                </a:solidFill>
              </a:defRPr>
            </a:pPr>
            <a:r>
              <a:rPr sz="1200" b="1" i="0">
                <a:solidFill>
                  <a:srgbClr val="34D399"/>
                </a:solidFill>
              </a:rPr>
              <a:t>FastAPI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23BEE9-435A-4EBA-AA06-ABEDB935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REST + metrics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E39A5C-15E2-4E3A-AB27-25392FBC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F5902-FF5E-4F4F-A39C-CB1C2ADA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2BD063-33E0-4869-97B1-EC9173EE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106DB3-CA33-4F27-9CAB-AAFDC6B6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8B5CF6"/>
                </a:solidFill>
              </a:defRPr>
            </a:pPr>
            <a:r>
              <a:rPr sz="1200" b="1" i="0">
                <a:solidFill>
                  <a:srgbClr val="8B5CF6"/>
                </a:solidFill>
              </a:rPr>
              <a:t>PostgreSQL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3B5A64-5D33-4216-97C1-0167E408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Release 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105D9D-1EC3-4503-B00D-D7EAAD00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420E4B-117C-4F37-BC8F-9508C717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26918F-0FE1-4C20-A858-9B7F28106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E606BE-40FE-4B65-B991-72B62313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22D3EE"/>
                </a:solidFill>
              </a:defRPr>
            </a:pPr>
            <a:r>
              <a:rPr sz="1200" b="1" i="0">
                <a:solidFill>
                  <a:srgbClr val="22D3EE"/>
                </a:solidFill>
              </a:rPr>
              <a:t>Docker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A56B74-B141-48E5-92C3-C59F0EBC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Reproducible images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A7622C-5113-4BB5-8268-28112DCB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22E984-87D4-44AC-AEB1-7FF832049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20D905-802E-40DA-AFD1-1CA228E4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A09116-9B25-45BA-B585-F28BA798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8B5CF6"/>
                </a:solidFill>
              </a:defRPr>
            </a:pPr>
            <a:r>
              <a:rPr sz="1200" b="1" i="0">
                <a:solidFill>
                  <a:srgbClr val="8B5CF6"/>
                </a:solidFill>
              </a:rPr>
              <a:t>GitHub Actions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9814A6-C7C0-464E-B80B-6D0450D9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Test · scan · push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030BF0-FC1D-4158-9A92-7B4DC113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F6A4A7-6033-4A6E-8D5F-D77FD486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E9D906-6C93-4541-AD62-FCBBB592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92F763-D488-48D2-A1B7-7EDCCA1F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34D399"/>
                </a:solidFill>
              </a:defRPr>
            </a:pPr>
            <a:r>
              <a:rPr sz="1200" b="1" i="0">
                <a:solidFill>
                  <a:srgbClr val="34D399"/>
                </a:solidFill>
              </a:rPr>
              <a:t>Helm + EKS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97EA26-B50B-48DF-8788-AFAEFEB0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Declarative runtime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237091-033E-4792-9B64-722E615E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BDB729-A15A-41E4-B8C1-AB52B154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FD59E8-DFA1-46E8-BC36-A9048C36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F06112-5CA6-497D-B40E-EB1FEF05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FBBF24"/>
                </a:solidFill>
              </a:defRPr>
            </a:pPr>
            <a:r>
              <a:rPr sz="1200" b="1" i="0">
                <a:solidFill>
                  <a:srgbClr val="FBBF24"/>
                </a:solidFill>
              </a:rPr>
              <a:t>Prometheus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2533E5-33F3-4231-B9F2-C6900F97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Operational feedback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5EA5F57-6E6D-4A32-B079-DCF38071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671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6F7FB"/>
                </a:solidFill>
              </a:defRPr>
            </a:pPr>
            <a:r>
              <a:rPr sz="1350" b="1" i="0">
                <a:solidFill>
                  <a:srgbClr val="F6F7FB"/>
                </a:solidFill>
              </a:rPr>
              <a:t>Build once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425D6C-0FDA-495A-AD47-17EA15BC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19600"/>
            <a:ext cx="3086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AAB2CF"/>
                </a:solidFill>
              </a:defRPr>
            </a:pPr>
            <a:r>
              <a:rPr sz="1050" b="0" i="0">
                <a:solidFill>
                  <a:srgbClr val="AAB2CF"/>
                </a:solidFill>
              </a:rPr>
              <a:t>Immutable images are tagged with the commit SHA, scanned, and promoted through Helm values.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17E954-7367-46C8-BCE4-7925E18D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671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6F7FB"/>
                </a:solidFill>
              </a:defRPr>
            </a:pPr>
            <a:r>
              <a:rPr sz="1350" b="1" i="0">
                <a:solidFill>
                  <a:srgbClr val="F6F7FB"/>
                </a:solidFill>
              </a:rPr>
              <a:t>Operate safely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E43711-E5F8-4AAE-8413-ECA98B68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419600"/>
            <a:ext cx="3086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AAB2CF"/>
                </a:solidFill>
              </a:defRPr>
            </a:pPr>
            <a:r>
              <a:rPr sz="1050" b="0" i="0">
                <a:solidFill>
                  <a:srgbClr val="AAB2CF"/>
                </a:solidFill>
              </a:rPr>
              <a:t>Non-root workloads, health probes, resource limits, ingress routing, and autoscaling are encoded—not remembered.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F09FE52-B415-4E16-8F87-4375CC64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0671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6F7FB"/>
                </a:solidFill>
              </a:defRPr>
            </a:pPr>
            <a:r>
              <a:rPr sz="1350" b="1" i="0">
                <a:solidFill>
                  <a:srgbClr val="F6F7FB"/>
                </a:solidFill>
              </a:rPr>
              <a:t>Close the loop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E6016C1-DFEC-4452-8AA5-4BFA2486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419600"/>
            <a:ext cx="3086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AAB2CF"/>
                </a:solidFill>
              </a:defRPr>
            </a:pPr>
            <a:r>
              <a:rPr sz="1050" b="0" i="0">
                <a:solidFill>
                  <a:srgbClr val="AAB2CF"/>
                </a:solidFill>
              </a:rPr>
              <a:t>Prometheus scrapes the API; Grafana turns request behavior into a live operational signal.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EC7F4FC-9999-4695-ACD5-52CB9502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D01F574-5F52-4E96-B684-D79B5EBD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13497504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BEC19A-BBCA-41E8-92FD-56EFB6C1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03 ·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76130-EF67-42F5-B736-48B7E3B6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The API is observable—and exercised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3B67D7-6125-42FB-99ED-3D2B6F1A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Release CRUD, aggregate statistics, health, readiness, and Prometheus metrics are built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D8317-C8F6-4667-A844-8C3FC671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5EC1C7-385E-4F29-98CA-AC29A01708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ce35b27b54411"/>
          <a:stretch xmlns:a="http://schemas.openxmlformats.org/drawingml/2006/main"/>
        </p:blipFill>
        <p:spPr>
          <a:xfrm xmlns:a="http://schemas.openxmlformats.org/drawingml/2006/main">
            <a:off x="609600" y="2010536"/>
            <a:ext cx="6715125" cy="3894203"/>
          </a:xfrm>
          <a:prstGeom xmlns:a="http://schemas.openxmlformats.org/drawingml/2006/main" prst="roundRect">
            <a:avLst>
              <a:gd name="adj" fmla="val 263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D06235-17EA-4CAE-AF1C-CBC9DF0F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85950"/>
            <a:ext cx="1714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D592BD-E65A-41FA-936B-462A54E3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28825"/>
            <a:ext cx="137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34D399"/>
                </a:solidFill>
              </a:defRPr>
            </a:pPr>
            <a:r>
              <a:rPr sz="2100" b="1" i="0">
                <a:solidFill>
                  <a:srgbClr val="34D399"/>
                </a:solidFill>
              </a:rPr>
              <a:t>9/9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6A3295-5F54-4ECA-A2C1-47CEBCF8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47925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PYTEST CASES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A49F60-2FB2-4205-84FE-F70035E6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85950"/>
            <a:ext cx="1714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821AAD-2FE5-4E2A-8140-4EBA79EB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28825"/>
            <a:ext cx="137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22D3EE"/>
                </a:solidFill>
              </a:defRPr>
            </a:pPr>
            <a:r>
              <a:rPr sz="2100" b="1" i="0">
                <a:solidFill>
                  <a:srgbClr val="22D3EE"/>
                </a:solidFill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09830D-8917-449C-988A-C2444155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47925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RUFF ERRORS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19FF3A-9FA5-43F0-8ED5-2C869927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71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AC78E3-AEAA-4BEA-B4D0-8D6ACBA2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24200"/>
            <a:ext cx="3314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Behavior, not snapshots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5EBD03-B1BC-4F7E-A0B8-0729531A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371850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Create, validate, list, fetch, update, delete, stats, health, and readiness paths are covered.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57FD51-474F-411B-899E-631863C0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19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0577CA-6EB3-42DD-A47F-72F3236F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171950"/>
            <a:ext cx="3314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Isolated test state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CEB1D5-5166-4095-871E-E30B54A6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19600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Each test suite overrides the database dependency with an in-memory SQLite engine.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D9056C-1578-431E-AEA9-C819FA88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673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8B5CF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2F26E2-101A-4F10-9AB9-107D1CA5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219700"/>
            <a:ext cx="3314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Machine-readable contract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C0189-1B36-4DB2-923A-1D0C45C2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67350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Swagger documents every endpoint and schema directly from the running application.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3A64A2-388C-4BE8-8949-6BFA394B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6CF046-B05D-4BC0-8152-8C5A8D025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4296314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5A5D5E-5979-42E2-BF49-9B02A7A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04 · 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D7013A-5111-41BE-9A8B-F83AE27E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Reproducible locally; gated in CI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6B4320-C1D2-4FF7-BA42-1FA12079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Compose proves the full stack. GitHub Actions enforces tests, builds, vulnerability policy, and immutable image tags.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F1B59C-330E-4A96-8EFF-F6C19F07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C19C76-3B17-4121-A430-4DE1D002D1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8f1b1dfa334006"/>
          <a:stretch xmlns:a="http://schemas.openxmlformats.org/drawingml/2006/main"/>
        </p:blipFill>
        <p:spPr>
          <a:xfrm xmlns:a="http://schemas.openxmlformats.org/drawingml/2006/main">
            <a:off x="609600" y="2294775"/>
            <a:ext cx="5715000" cy="3240000"/>
          </a:xfrm>
          <a:prstGeom xmlns:a="http://schemas.openxmlformats.org/drawingml/2006/main" prst="roundRect">
            <a:avLst>
              <a:gd name="adj" fmla="val 2715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8AD215-33A8-4A70-9D28-6EF61CA3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8595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4B0D84-EBF0-441A-954E-724F7435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526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81E5E-2D91-488E-861B-2246B8A7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180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21D7A7-4D47-48B5-B632-4BAC2027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09550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pytest · Ruff · npm 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82337-D335-430B-921D-5A69DDFC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257425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533CFE-D817-4DB6-8761-35A43B1A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0510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1EF38-6723-48D4-8822-53E75722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717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95852E-8D3B-4653-BF92-61E0B5D1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628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Build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77DF56-F384-4E07-9560-F218A049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91465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backend + frontend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6117D2-306E-4E2D-A0C7-029C8FCC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76575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D0612C-BBFE-459F-BBC6-3F8228A8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2425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BF24">
              <a:alpha val="13333"/>
            </a:srgbClr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30D464-BB2E-45D2-8084-8BFB8C20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909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FBBF24"/>
                </a:solidFill>
              </a:defRPr>
            </a:pPr>
            <a:r>
              <a:rPr sz="900" b="1" i="0">
                <a:solidFill>
                  <a:srgbClr val="FBBF24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59CFA7-BAB3-471D-94F3-F4A390D0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4480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Scan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778D0A-4BB3-4F40-9B5F-BA2A536E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73380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Trivy HIGH/CRITICAL gate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230E19-0BBC-435D-ADEF-C47D6178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95725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143846-E35A-46F8-9FBC-927E7D17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4340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C1F32B-C59E-457C-AECB-541B4A15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100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AD4993-E7B3-4A32-AC9E-11E3B73F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4267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Publish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C3BAD6-3A9C-4CE9-8610-B5E1893D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455295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GHCR · commit SHA tags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231A30-05E0-47AA-8FF5-BEDF00FF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14875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204921-9C77-4EBC-A036-997A3A76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16255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F3E406-B9CF-4696-A21D-D30944F7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229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4F710C-364F-4EA3-9518-7DC93695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50863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Deploy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BE4F98-FFF7-49AA-8397-72415439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537210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Helm when kubeconfig exists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854EBE-8FA2-4B13-A924-D3F9A78A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4E13D2-3741-45BC-8951-6742F874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5142847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6E6AD6-D6DA-4B35-8BB1-CAA1FF0D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05 · INFRASTRUCTURE AS 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9AC29A-FB4E-4BB4-BABF-1305862F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Real AWS infrastructure—provisioned and verified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59BB77-A7D1-413B-9CF5-72111DD1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Terraform created the two-AZ VPC and EKS platform in Mumbai; the cluster reported Active with zero node-health issues.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B4E0DE-9443-49B8-A1EB-0226A6E6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539109-37BF-4C76-911B-9E51E31FAE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a9082aa344448a"/>
          <a:stretch xmlns:a="http://schemas.openxmlformats.org/drawingml/2006/main"/>
        </p:blipFill>
        <p:spPr>
          <a:xfrm xmlns:a="http://schemas.openxmlformats.org/drawingml/2006/main">
            <a:off x="622203" y="1809750"/>
            <a:ext cx="7309044" cy="4238625"/>
          </a:xfrm>
          <a:prstGeom xmlns:a="http://schemas.openxmlformats.org/drawingml/2006/main" prst="roundRect">
            <a:avLst>
              <a:gd name="adj" fmla="val 269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0A386-07E3-4759-A1ED-E987F7F7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52625"/>
            <a:ext cx="2857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3F05E5-5641-45EC-8711-AA3338559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2514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34D399"/>
                </a:solidFill>
              </a:defRPr>
            </a:pPr>
            <a:r>
              <a:rPr sz="2100" b="1" i="0">
                <a:solidFill>
                  <a:srgbClr val="34D399"/>
                </a:solidFill>
              </a:rPr>
              <a:t>ACTIVE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A7C0C1-2379-49EF-81E8-FF6ACE03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1460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EKS 1.36 · AP-SOUTH-1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173B0-D9E5-4FE5-B02F-13CC4C7C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90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3AB6F-B351-402E-9553-1D0741B4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432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Non-empty 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0FCE80-91CF-4E2B-9950-B9A2A922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909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56 resources planned: VPC, four subnets, NAT, IAM, encryption, logging, EKS, and managed nodes.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1468AC-BDD5-4E86-84F1-203D1073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43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8B5C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40EAD5-5EE6-4AA4-B7F9-17D3296B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957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Two ready workers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D1CB43-6C92-40ED-90F8-4B3836EF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Workloads ran across private subnets in two availability zones behind an AWS load balancer.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FB8EA4-A229-4F07-8E3A-4EF96FA7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095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B1F255-BDBA-405F-965F-30E77551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0482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Cost-safe teardown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9F5FAA-FDCA-43C5-81AB-B2984E7F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2959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Helm releases and the load balancer were removed before Terraform destroyed the cloud stack.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F7AE42-1DAD-42F8-8348-F73C02E8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F4F0E8-12DD-4184-BC3E-B414CA2E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19798264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73EE7C-8B80-4D10-8BF7-33AB955D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06 · KUBERNETES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F6C1E1-261E-4427-A28B-71D41258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The Helm release ran on EKS—not hypothetical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57229-8EB6-4B96-8563-15CA8BE2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The same chart deployed PostgreSQL, two backend replicas, two frontend replicas, and ingress on the live AWS cluster.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AC113D-3A0C-483B-BB3E-CD58A034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41C3FA-819D-4B49-833F-A4FFEAA525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bc518303634135"/>
          <a:stretch xmlns:a="http://schemas.openxmlformats.org/drawingml/2006/main"/>
        </p:blipFill>
        <p:spPr>
          <a:xfrm xmlns:a="http://schemas.openxmlformats.org/drawingml/2006/main">
            <a:off x="609600" y="1881491"/>
            <a:ext cx="7143750" cy="4142769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3DD71E-732D-42AC-A2FD-0830EB6A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24050"/>
            <a:ext cx="31051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BEFE04-90AF-41A4-9F76-4D78B7A97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669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34D399"/>
                </a:solidFill>
              </a:defRPr>
            </a:pPr>
            <a:r>
              <a:rPr sz="2100" b="1" i="0">
                <a:solidFill>
                  <a:srgbClr val="34D399"/>
                </a:solidFill>
              </a:rPr>
              <a:t>2 + 2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1AB85-CC66-419C-895E-235E62B6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860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BACKEND + FRONTEND PODS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A3B239-4FC0-4947-883B-C3BDB98C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48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32BCCE-782D-4145-89AB-4EBCF78A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ClusterIP by default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D4B524-8228-4957-B029-1DDABFEC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48050"/>
            <a:ext cx="283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Frontend, backend, and PostgreSQL stay internal; ingress is the controlled entry point.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F90DF3-246F-4E08-A0A0-977C9CD4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95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8B5C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B71B58-E1FD-4400-8F56-A2D3F456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48150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Environment overlays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9A9A0D-AF5D-46AA-8FDB-ED873043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95800"/>
            <a:ext cx="283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Base, development, and production values separate resource and scaling choices.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3351C3-8601-4C55-A37B-8984F095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343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297113-8095-42DB-A419-4CAA9BDF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295900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Operational safeguards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D3451D-F861-40A8-A00C-142B9110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543550"/>
            <a:ext cx="283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Readiness/liveness probes, resource requests and limits, security contexts, and HPA are templated.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3742F9-52D1-4F7C-B7F4-1D8D5B29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8F1185-C7BD-485E-941B-F958A058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5767806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8A89C2-D477-457C-9CFE-D8DDFCA6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07 · OBSERVABILITY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F55BC-44A7-4DD3-AF6E-A1690386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Telemetry closes the delivery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6E0A3-DAF9-4A68-8614-0C20345E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ServiceMonitor discovery proves scrape health; a controlled load test produces visible request-rate behavior.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DF86C-E34D-44CA-9207-893EDBF4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BC4AF9-C1F1-40A0-9256-FAAC1994E4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43e969b47d4d66"/>
          <a:stretch xmlns:a="http://schemas.openxmlformats.org/drawingml/2006/main"/>
        </p:blipFill>
        <p:spPr>
          <a:xfrm xmlns:a="http://schemas.openxmlformats.org/drawingml/2006/main">
            <a:off x="609600" y="2232400"/>
            <a:ext cx="5095875" cy="2955175"/>
          </a:xfrm>
          <a:prstGeom xmlns:a="http://schemas.openxmlformats.org/drawingml/2006/main" prst="roundRect">
            <a:avLst>
              <a:gd name="adj" fmla="val 3038"/>
            </a:avLst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B03FD7-AB02-4E78-96FF-7B2B0B6FF1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ab4c31b0c7432f"/>
          <a:stretch xmlns:a="http://schemas.openxmlformats.org/drawingml/2006/main"/>
        </p:blipFill>
        <p:spPr>
          <a:xfrm xmlns:a="http://schemas.openxmlformats.org/drawingml/2006/main">
            <a:off x="5953125" y="2077737"/>
            <a:ext cx="5629275" cy="3264502"/>
          </a:xfrm>
          <a:prstGeom xmlns:a="http://schemas.openxmlformats.org/drawingml/2006/main" prst="roundRect">
            <a:avLst>
              <a:gd name="adj" fmla="val 303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E1E7FC-E7B6-43E4-ACDD-BF185412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714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>
              <a:alpha val="13333"/>
            </a:srgbClr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7EAA66-C100-43AC-8117-544D407F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769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34D399"/>
                </a:solidFill>
              </a:defRPr>
            </a:pPr>
            <a:r>
              <a:rPr sz="900" b="1" i="0">
                <a:solidFill>
                  <a:srgbClr val="34D399"/>
                </a:solidFill>
              </a:rPr>
              <a:t>2 / 2 TARGETS 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B928F6-5C9C-4A47-87EB-2C98C34C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81977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Prometheus discovers both API replicas through the chart’s ServiceMonitor.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BBD12-91F6-4FBD-A8E7-2C0F2E5A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0250"/>
            <a:ext cx="15716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>
              <a:alpha val="13333"/>
            </a:srgbClr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220792-F6F8-4140-8C8B-5A771A39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876925"/>
            <a:ext cx="1381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604 REQUESTS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024AB-3D14-4854-931F-8154DF5F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819775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Grafana captured the generated traffic spike and 15-minute request count.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FF7188-3E41-4D4C-BE62-C4237F6F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3C2C38-7F10-400A-974E-0A976245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14947343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976B50-40B4-459D-9413-193423AC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08 · HANDOFF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D701A-5A43-4C1D-A8FC-4692F2FC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Submission-ready; only GitHub publishing remains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984CC1-6BD3-4A2A-BAC9-8AB367EF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The application, tests, containers, security gate, Terraform, AWS, Kubernetes, and observability are implemented and evidenced.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A6123F-2DBC-42A7-AFFF-46D72F7A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F726D0-DEE2-4D6D-BAFA-A40FEFB5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010150" cy="3876675"/>
          </a:xfrm>
          <a:prstGeom xmlns:a="http://schemas.openxmlformats.org/drawingml/2006/main" prst="roundRect">
            <a:avLst>
              <a:gd name="adj" fmla="val 3931"/>
            </a:avLst>
          </a:prstGeom>
          <a:solidFill xmlns:a="http://schemas.openxmlformats.org/drawingml/2006/main">
            <a:srgbClr val="12172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AF038-1349-401E-913E-968B38C4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34D399"/>
                </a:solidFill>
              </a:defRPr>
            </a:pPr>
            <a:r>
              <a:rPr sz="1800" b="1" i="0">
                <a:solidFill>
                  <a:srgbClr val="34D399"/>
                </a:solidFill>
              </a:rPr>
              <a:t>Verified now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58080A-4590-4972-9C3F-4F33A328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312037-5696-4F9E-A7FE-964F027F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479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9 backend tests + Ruff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9182A5-D5FE-48D1-98AB-3606F4FF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845321-8CA1-49AC-BF12-BB4174C1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Frontend build + npm audit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5D3A1-370A-418B-9CC9-50B46732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5CF47B-4D47-4F54-A08D-C83854F2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480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Hardened Docker Compose 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7F3703-A722-4758-8ADA-BA64C757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4EABCB-643B-4D85-86AF-A9204F94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481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Helm on kind + live EKS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02D16E-57C8-496D-87AC-CA22D66A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307CB9-A0DD-4F7C-A015-54CD56F2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481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Prometheus targets + Grafana load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CAD45B-76E3-4919-ACF3-E857031D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482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1FBB4B-4F90-4D82-8BE8-7EA53F01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482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Terraform plan + apply + destroy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D5F700-4DCC-4798-BB32-6F4A05B5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82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C07479-B23B-4723-BAFD-27FF8303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482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AWS Console + live app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2DB220-1D41-432D-9AF3-66B5F3BA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09750"/>
            <a:ext cx="5619750" cy="3876675"/>
          </a:xfrm>
          <a:prstGeom xmlns:a="http://schemas.openxmlformats.org/drawingml/2006/main" prst="roundRect">
            <a:avLst>
              <a:gd name="adj" fmla="val 3931"/>
            </a:avLst>
          </a:prstGeom>
          <a:solidFill xmlns:a="http://schemas.openxmlformats.org/drawingml/2006/main">
            <a:srgbClr val="12172A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D30E10-ADF8-4253-86FF-E1DE14EF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FBBF24"/>
                </a:solidFill>
              </a:defRPr>
            </a:pPr>
            <a:r>
              <a:rPr sz="1800" b="1" i="0">
                <a:solidFill>
                  <a:srgbClr val="FBBF24"/>
                </a:solidFill>
              </a:rPr>
              <a:t>Final owner action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F85007-E393-489C-9B2A-729E1F53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09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4CA60-FC7D-4F97-8301-3EFEC79B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62250"/>
            <a:ext cx="46005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Push to your GitHub repository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5D37C0-4443-4D35-A751-14D9E357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09900"/>
            <a:ext cx="4600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This unlocks commit-history, Actions-run, and GHCR screenshot evidence under your identity.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A17002-35BE-4A80-A871-3A3BBC59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29C67E-25FD-4495-B363-0F1E09C6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57625"/>
            <a:ext cx="46005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Run the final CI demonstration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417714-1AC6-448C-9DFF-E9CEE6B0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05275"/>
            <a:ext cx="4600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Commit one visible change, follow the green workflow, then show the SHA-tagged GHCR packages.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FEE743-788E-486F-9AF8-99B74F94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007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2D3EE"/>
                </a:solidFill>
              </a:defRPr>
            </a:pPr>
            <a:r>
              <a:rPr sz="975" b="1" i="0">
                <a:solidFill>
                  <a:srgbClr val="22D3EE"/>
                </a:solidFill>
              </a:rPr>
              <a:t>Recommended demo path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ADEC82-DE2D-4FF1-A325-0DF0E549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981700"/>
            <a:ext cx="771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Create release → update status → call API → generate load → watch Grafana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EDC46B-7213-49C8-BF11-8D3A9C25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41BC85-775F-403F-ADAF-597820E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AWS VERIFIED · READY TO PUBLISH</a:t>
            </a:r>
          </a:p>
        </p:txBody>
      </p:sp>
    </p:spTree>
    <p:extLst>
      <p:ext uri="{BB962C8B-B14F-4D97-AF65-F5344CB8AC3E}">
        <p14:creationId xmlns:p14="http://schemas.microsoft.com/office/powerpoint/2010/main" val="10641706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2026-10-16T13:26:35.4860000Z</dcterms:created>
  <dcterms:modified xsi:type="dcterms:W3CDTF">2026-10-16T13:26:35.4860000Z</dcterms:modified>
</coreProperties>
</file>